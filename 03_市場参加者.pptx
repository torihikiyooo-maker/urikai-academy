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市場参加者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誰がこの市場で取引しているのか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市場参加者の階層構造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中央銀行 ── 金融政策で市場全体の方向性を左右する最上位の存在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商業銀行 / 投資銀行 ── インターバンク市場の主役、巨額の取引量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ヘッジファンド ── 大きなポジション、高頻度・高レバレッジ戦略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機関投資家 ── 年金基金、保険会社、運用会社（中長期運用）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事業法人 ── 貿易決済・海外送金のための実需取引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個人トレーダー（リテール）── 全体の約5-6%、ブローカー経由で参加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POINT：個人トレーダーの取引量は市場全体のごく一部。大手プレイヤーの動きを理解し、その流れに沿った取引を心がけることが重要。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市場参加者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中央銀行の役割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金融政策で金利を操作 → 通貨の価値を左右する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量的緩和（QE）で市場に資金を供給 / 量的引き締め（QT）で資金を回収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為替介入で直接的に通貨レートに影響を与えることがある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フォワードガイダンスで市場の期待をコントロール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中央銀行の発言・声明ひとつで相場が大きく変動する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市場参加者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主要中央銀行一覧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中央銀行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略称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対象通貨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政策金利名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米連邦準備制度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FRB / Fed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FF金利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欧州中央銀行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ECB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EUR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主要リファイナンス金利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日本銀行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BOJ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JPY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政策金利（短期）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イングランド銀行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BOE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GBP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バンクレート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オーストラリア準備銀行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RBA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キャッシュレート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カナダ銀行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BOC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CAD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オーバーナイト金利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スイス国立銀行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SNB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CHF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政策金利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NZ準備銀行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RBNZ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NZD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市場参加者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商業銀行とインターバンク市場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インターバンク市場 ＝ 銀行同士が直接取引する市場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主要プレイヤー：JPMorgan、Citi、Deutsche Bank、UBS、HSBC等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取引単位は数百万〜数十億ドル規模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為替レートの「基準価格」はここで形成される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個人トレーダーの注文はブローカーを通じてこの市場にアクセス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ECN/STPブローカーはより直接的にインターバンクに接続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市場参加者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ヘッジファンドと機関投資家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ヘッジファンド ── 高度な戦略（マクロ・アルゴ・裁定）で積極的にリターンを追求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機関投資家 ── 年金基金・保険会社・投信会社、中長期の安定運用が主目的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両者とも巨額の資金を動かし、市場トレンドの形成に寄与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ヘッジファンドの動向はCOTレポートで一部確認可能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機関投資家のリバランス（四半期末等）は短期的な価格変動の原因になる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市場参加者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個人トレーダーの立ち位置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市場全体に占める割合は約5-6%（FX市場の場合）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情報の非対称性 ── 機関は専用データ・アナリストチームを保有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資金力の差 ── 機関は数十億〜数兆円規模のポジション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時間軸の差 ── 機関は中長期、個人は短期が多い傾向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個人の強み ── 機動性が高い、取引しない選択ができる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最大の武器 ── 好条件のときだけ参加する自由がある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POINT：個人トレーダーの最大の強みは「参加しない自由」。機関投資家は常にポジションを持つ義務があるが、個人にはそれがない。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市場参加者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中央銀行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金融政策で市場全体の方向性を決定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銀行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インターバンク市場で基準価格を形成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ヘッジファンド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積極的な戦略で大きなポジションを構築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機関投資家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中長期運用、リバランスが短期変動の原因に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個人トレーダー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全体の5-6%、機動性と選択の自由が武器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市場参加者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通貨ペアの基礎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