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D4A537"/>
                </a:solidFill>
                <a:latin typeface="Meiryo UI"/>
              </a:defRPr>
            </a:pPr>
            <a:r>
              <a:t>SECTION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Meiryo UI"/>
              </a:defRPr>
            </a:pPr>
            <a:r>
              <a:t>マルチタイムフレーム分析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AEB6BF"/>
                </a:solidFill>
                <a:latin typeface="Meiryo UI"/>
              </a:defRPr>
            </a:pPr>
            <a:r>
              <a:t>Multiple Timeframe Analysis ── 大局と局所を同時に見る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0" y="4846320"/>
            <a:ext cx="2103120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52120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EB6BF"/>
                </a:solidFill>
                <a:latin typeface="Meiryo UI"/>
              </a:defRPr>
            </a:pPr>
            <a:r>
              <a:t>URIKAI Trading Academy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36576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eiryo UI"/>
              </a:defRPr>
            </a:pPr>
            <a:r>
              <a:t>マルチタイムフレーム分析とは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5156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複数の時間軸を使って、大きな流れ → 中期の方向 → エントリータイミングを判断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トップダウンアプローチ ── 上位時間軸から下位時間軸へ分析を進める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上位時間軸でトレンド方向を確認 → 下位時間軸でエントリータイミングを計る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「木を見て森を見ず」を防ぐための体系的フレームワーク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上位時間軸の方向に逆らうトレードは成功確率が低い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すべての時間軸が同じ方向 ＝ 最も強いシグナル（タイムフレームアラインメント）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4937760"/>
            <a:ext cx="54864" cy="100584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86384" y="4937760"/>
            <a:ext cx="10460736" cy="100584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27000" bIns="127000"/>
          <a:lstStyle/>
          <a:p>
            <a:pPr algn="ctr">
              <a:defRPr sz="1400">
                <a:solidFill>
                  <a:srgbClr val="2C3E50"/>
                </a:solidFill>
                <a:latin typeface="Meiryo UI"/>
              </a:defRPr>
            </a:pPr>
            <a:r>
              <a:t>POINT：下位時間軸で良いセットアップに見えても、上位時間軸のS/Rに向かっている場合は見送る。上位が常に優先。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04800"/>
          <a:lstStyle/>
          <a:p>
            <a:pPr algn="ctr">
              <a:defRPr sz="900">
                <a:solidFill>
                  <a:srgbClr val="AEB6BF"/>
                </a:solidFill>
                <a:latin typeface="Meiryo UI"/>
              </a:defRPr>
            </a:pPr>
            <a:r>
              <a:t>  マルチタイムフレーム分析    |    URIKAI Trading Academy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36576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eiryo UI"/>
              </a:defRPr>
            </a:pPr>
            <a:r>
              <a:t>トレードスタイル別 推奨タイムフレーム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2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384048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Meiryo UI"/>
                        </a:defRPr>
                      </a:pPr>
                      <a:r>
                        <a:t>スタイル</a:t>
                      </a:r>
                    </a:p>
                  </a:txBody>
                  <a:tcPr>
                    <a:solidFill>
                      <a:srgbClr val="1A3C6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Meiryo UI"/>
                        </a:defRPr>
                      </a:pPr>
                      <a:r>
                        <a:t>方向確認（上位）</a:t>
                      </a:r>
                    </a:p>
                  </a:txBody>
                  <a:tcPr>
                    <a:solidFill>
                      <a:srgbClr val="1A3C6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Meiryo UI"/>
                        </a:defRPr>
                      </a:pPr>
                      <a:r>
                        <a:t>セットアップ（中位）</a:t>
                      </a:r>
                    </a:p>
                  </a:txBody>
                  <a:tcPr>
                    <a:solidFill>
                      <a:srgbClr val="1A3C6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Meiryo UI"/>
                        </a:defRPr>
                      </a:pPr>
                      <a:r>
                        <a:t>エントリー（下位）</a:t>
                      </a:r>
                    </a:p>
                  </a:txBody>
                  <a:tcPr>
                    <a:solidFill>
                      <a:srgbClr val="1A3C6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eiryo UI"/>
                        </a:defRPr>
                      </a:pPr>
                      <a:r>
                        <a:t>スキャルピング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eiryo UI"/>
                        </a:defRPr>
                      </a:pPr>
                      <a:r>
                        <a:t>1時間足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eiryo UI"/>
                        </a:defRPr>
                      </a:pPr>
                      <a:r>
                        <a:t>15分足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eiryo UI"/>
                        </a:defRPr>
                      </a:pPr>
                      <a:r>
                        <a:t>1分足・5分足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eiryo UI"/>
                        </a:defRPr>
                      </a:pPr>
                      <a:r>
                        <a:t>デイトレード</a:t>
                      </a:r>
                    </a:p>
                  </a:txBody>
                  <a:tcPr>
                    <a:solidFill>
                      <a:srgbClr val="EAEC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eiryo UI"/>
                        </a:defRPr>
                      </a:pPr>
                      <a:r>
                        <a:t>日足</a:t>
                      </a:r>
                    </a:p>
                  </a:txBody>
                  <a:tcPr>
                    <a:solidFill>
                      <a:srgbClr val="EAEC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eiryo UI"/>
                        </a:defRPr>
                      </a:pPr>
                      <a:r>
                        <a:t>1時間足・4時間足</a:t>
                      </a:r>
                    </a:p>
                  </a:txBody>
                  <a:tcPr>
                    <a:solidFill>
                      <a:srgbClr val="EAEC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eiryo UI"/>
                        </a:defRPr>
                      </a:pPr>
                      <a:r>
                        <a:t>15分足</a:t>
                      </a:r>
                    </a:p>
                  </a:txBody>
                  <a:tcPr>
                    <a:solidFill>
                      <a:srgbClr val="EAECE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eiryo UI"/>
                        </a:defRPr>
                      </a:pPr>
                      <a:r>
                        <a:t>スイングトレード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eiryo UI"/>
                        </a:defRPr>
                      </a:pPr>
                      <a:r>
                        <a:t>週足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eiryo UI"/>
                        </a:defRPr>
                      </a:pPr>
                      <a:r>
                        <a:t>日足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eiryo UI"/>
                        </a:defRPr>
                      </a:pPr>
                      <a:r>
                        <a:t>4時間足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eiryo UI"/>
                        </a:defRPr>
                      </a:pPr>
                      <a:r>
                        <a:t>ポジショントレード</a:t>
                      </a:r>
                    </a:p>
                  </a:txBody>
                  <a:tcPr>
                    <a:solidFill>
                      <a:srgbClr val="EAEC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eiryo UI"/>
                        </a:defRPr>
                      </a:pPr>
                      <a:r>
                        <a:t>月足</a:t>
                      </a:r>
                    </a:p>
                  </a:txBody>
                  <a:tcPr>
                    <a:solidFill>
                      <a:srgbClr val="EAEC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eiryo UI"/>
                        </a:defRPr>
                      </a:pPr>
                      <a:r>
                        <a:t>週足</a:t>
                      </a:r>
                    </a:p>
                  </a:txBody>
                  <a:tcPr>
                    <a:solidFill>
                      <a:srgbClr val="EAEC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eiryo UI"/>
                        </a:defRPr>
                      </a:pPr>
                      <a:r>
                        <a:t>日足</a:t>
                      </a:r>
                    </a:p>
                  </a:txBody>
                  <a:tcPr>
                    <a:solidFill>
                      <a:srgbClr val="EAECEE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04800"/>
          <a:lstStyle/>
          <a:p>
            <a:pPr algn="ctr">
              <a:defRPr sz="900">
                <a:solidFill>
                  <a:srgbClr val="AEB6BF"/>
                </a:solidFill>
                <a:latin typeface="Meiryo UI"/>
              </a:defRPr>
            </a:pPr>
            <a:r>
              <a:t>  マルチタイムフレーム分析    |    URIKAI Trading Academy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36576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eiryo UI"/>
              </a:defRPr>
            </a:pPr>
            <a:r>
              <a:t>トップダウン分析の手順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Step 1：上位時間軸でトレンド方向とS/Rを確認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Step 2：中位時間軸でセットアップ（パターン・フィボ・S/R反応）を探す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Step 3：下位時間軸でエントリートリガー（ローソク足パターン・ブレイク確認）を待つ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Step 4：リスク管理（SL/TP）は中位〜上位時間軸のS/Rに基づいて設定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例：日足で上昇トレンド確認 → 4H足でフィボ61.8%の押し目 → 15分足でピンバー → 買いエントリー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04800"/>
          <a:lstStyle/>
          <a:p>
            <a:pPr algn="ctr">
              <a:defRPr sz="900">
                <a:solidFill>
                  <a:srgbClr val="AEB6BF"/>
                </a:solidFill>
                <a:latin typeface="Meiryo UI"/>
              </a:defRPr>
            </a:pPr>
            <a:r>
              <a:t>  マルチタイムフレーム分析    |    URIKAI Trading Academy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36576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eiryo UI"/>
              </a:defRPr>
            </a:pPr>
            <a:r>
              <a:t>タイムフレームアラインメント（合致）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全時間軸のトレンドが一致 ＝ 最高品質のトレードセットアップ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例：週足↑ 日足↑ 4H足↑ ＝ 強い上昇。買いのみを検討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上位と下位で方向が矛盾 ＝ 見送りまたは慎重に対応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アラインメントが取れている相場 ＝ トレンドフォローが最適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アラインメントが取れていない相場 ＝ レンジ/転換期の可能性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「迷ったらトレードしない」── アラインメントが明確な場面だけ参加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04800"/>
          <a:lstStyle/>
          <a:p>
            <a:pPr algn="ctr">
              <a:defRPr sz="900">
                <a:solidFill>
                  <a:srgbClr val="AEB6BF"/>
                </a:solidFill>
                <a:latin typeface="Meiryo UI"/>
              </a:defRPr>
            </a:pPr>
            <a:r>
              <a:t>  マルチタイムフレーム分析    |    URIKAI Trading Academy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36576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eiryo UI"/>
              </a:defRPr>
            </a:pPr>
            <a:r>
              <a:t>よくあるミスと対策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分析麻痺 ── 時間軸を増やしすぎて判断できなくなる → 3つに絞る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下位時間軸の過信 ── 5分足だけ見て日足のS/Rを無視する → 上位優先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矛盾する信号 ── 上位と下位で方向が違う場合に無理にエントリー → 見送る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過剰な時間軸変更 ── エントリー後に時間軸を変えて不安になる → 事前に決めた軸で管理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エントリー時間軸とSL設定時間軸の不一致 → SLは中位以上の構造に基づく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04800"/>
          <a:lstStyle/>
          <a:p>
            <a:pPr algn="ctr">
              <a:defRPr sz="900">
                <a:solidFill>
                  <a:srgbClr val="AEB6BF"/>
                </a:solidFill>
                <a:latin typeface="Meiryo UI"/>
              </a:defRPr>
            </a:pPr>
            <a:r>
              <a:t>  マルチタイムフレーム分析    |    URIKAI Trading Academy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36576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eiryo UI"/>
              </a:defRPr>
            </a:pPr>
            <a:r>
              <a:t>まとめ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2560320" cy="411480"/>
          </a:xfrm>
          <a:prstGeom prst="roundRect">
            <a:avLst/>
          </a:prstGeom>
          <a:solidFill>
            <a:srgbClr val="0A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Meiryo UI"/>
              </a:defRPr>
            </a:pPr>
            <a:r>
              <a:t>概念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1216152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Meiryo UI"/>
              </a:defRPr>
            </a:pPr>
            <a:r>
              <a:t>上位→中位→下位の順に分析するトップダウンアプローチ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737360"/>
            <a:ext cx="2560320" cy="411480"/>
          </a:xfrm>
          <a:prstGeom prst="roundRect">
            <a:avLst/>
          </a:prstGeom>
          <a:solidFill>
            <a:srgbClr val="0A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Meiryo UI"/>
              </a:defRPr>
            </a:pPr>
            <a:r>
              <a:t>3つの軸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764792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Meiryo UI"/>
              </a:defRPr>
            </a:pPr>
            <a:r>
              <a:t>方向確認（上位）、セットアップ（中位）、エントリー（下位）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286000"/>
            <a:ext cx="2560320" cy="411480"/>
          </a:xfrm>
          <a:prstGeom prst="roundRect">
            <a:avLst/>
          </a:prstGeom>
          <a:solidFill>
            <a:srgbClr val="0A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Meiryo UI"/>
              </a:defRPr>
            </a:pPr>
            <a:r>
              <a:t>アラインメント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2313432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Meiryo UI"/>
              </a:defRPr>
            </a:pPr>
            <a:r>
              <a:t>全時間軸の方向一致 ＝ 最高品質のセットアップ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834640"/>
            <a:ext cx="2560320" cy="411480"/>
          </a:xfrm>
          <a:prstGeom prst="roundRect">
            <a:avLst/>
          </a:prstGeom>
          <a:solidFill>
            <a:srgbClr val="0A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Meiryo UI"/>
              </a:defRPr>
            </a:pPr>
            <a:r>
              <a:t>基本原則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862072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Meiryo UI"/>
              </a:defRPr>
            </a:pPr>
            <a:r>
              <a:t>上位時間軸が常に優先、矛盾時は見送り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383280"/>
            <a:ext cx="2560320" cy="411480"/>
          </a:xfrm>
          <a:prstGeom prst="roundRect">
            <a:avLst/>
          </a:prstGeom>
          <a:solidFill>
            <a:srgbClr val="0A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Meiryo UI"/>
              </a:defRPr>
            </a:pPr>
            <a:r>
              <a:t>注意点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3410712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Meiryo UI"/>
              </a:defRPr>
            </a:pPr>
            <a:r>
              <a:t>3軸に絞る、分析麻痺を避ける、SLは上位構造に基づく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04800"/>
          <a:lstStyle/>
          <a:p>
            <a:pPr algn="ctr">
              <a:defRPr sz="900">
                <a:solidFill>
                  <a:srgbClr val="AEB6BF"/>
                </a:solidFill>
                <a:latin typeface="Meiryo UI"/>
              </a:defRPr>
            </a:pPr>
            <a:r>
              <a:t>  マルチタイムフレーム分析    |    URIKAI Trading Academy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10528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D4A537"/>
                </a:solidFill>
                <a:latin typeface="Meiryo UI"/>
              </a:defRPr>
            </a:pPr>
            <a:r>
              <a:t>End of Section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AEB6BF"/>
                </a:solidFill>
                <a:latin typeface="Meiryo UI"/>
              </a:defRPr>
            </a:pPr>
            <a:r>
              <a:t>Next → エリオット波動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4572000"/>
            <a:ext cx="2103120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49377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EB6BF"/>
                </a:solidFill>
                <a:latin typeface="Meiryo UI"/>
              </a:defRPr>
            </a:pPr>
            <a:r>
              <a:t>URIKAI Trading Academy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