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4A537"/>
                </a:solidFill>
                <a:latin typeface="Meiryo UI"/>
              </a:defRPr>
            </a:pPr>
            <a:r>
              <a:t>SECTION 35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Meiryo UI"/>
              </a:defRPr>
            </a:pPr>
            <a:r>
              <a:t>トレード戦略集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EB6BF"/>
                </a:solidFill>
                <a:latin typeface="Meiryo UI"/>
              </a:defRPr>
            </a:pPr>
            <a:r>
              <a:t>Trading Strategies ── 代表的な戦略と選び方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0" y="484632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トレード戦略の分類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トレンドフォロー ── 既存のトレンドに乗る（順張り）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逆張り（Mean Reversion）── 行きすぎた価格の戻りを狙う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ブレイクアウト ── レンジやパターンの突破を狙う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モメンタム ── 強い勢いのある方向に追随する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レンジ ── S/R間の反復運動を利用する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戦略の良し悪しは「市場環境との適合性」で決まる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トレード戦略集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ブレイクアウト戦略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レンジ、チャートパターン、S/Rの突破でエントリー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エントリー：ブレイク確認（終値ベース）+ 出来高増大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SL：ブレイクしたレンジ/パターンの反対側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TP：パターンの計測値、次のS/R、フィボエクステンション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偽ブレイク（フェイクアウト）に注意 → リテストの確認を待つのが安全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適した環境：レンジ相場からトレンド相場への転換期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トレード戦略集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プルバック / リトレースメント戦略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トレンド方向への押し目買い・戻り売り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エントリー条件：上位TFのトレンド確認 ＋ フィボ/S/Rでの反転確認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SL：リトレースメントレベルの外側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TP：直近高値/安値、フィボエクステンション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最もリスクリワードが良い戦略の一つ（トレンド方向 ＋ 有利な価格）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適した環境：明確なトレンド相場の調整局面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トレード戦略集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ミーンリバージョン（平均回帰）戦略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価格が「平均」から大きく乖離した後、平均に戻る性質を利用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ツール：ボリンジャーバンド（±2σ）、RSI（30以下/70以上）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エントリー：極端な価格帯でのローソク足反転パターン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SL：バンドの外側またはATR × 倍率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TP：ミドルバンド（20SMA）、RSI 50レベル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適した環境：レンジ相場。トレンド相場では非常に危険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POINT：ミーンリバージョンはレンジ相場専用。トレンド発生中に逆張りすると「落ちるナイフを掴む」ことになる。必ず市場環境を先に確認。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トレード戦略集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VWAP戦略 / ORB戦略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VWAP（出来高加重平均価格）── 機関投資家のベンチマーク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価格がVWAPの上 ＝ 買い方有利、下 ＝ 売り方有利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VWAPへの回帰（ミーンリバージョン）and VWAPブレイクアウトの2パターン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ORB（Opening Range Breakout）── セッション開始後の最初のレンジ（15-30分）を定義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レンジ上限を超えたら買い、下限を割ったら売り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デイトレード向き、ロンドン/NYオープンで特に有効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トレード戦略集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戦略比較表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9424"/>
                <a:gridCol w="2249424"/>
                <a:gridCol w="2249424"/>
                <a:gridCol w="2249424"/>
                <a:gridCol w="2249424"/>
              </a:tblGrid>
              <a:tr h="384048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戦略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最適な市場環境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推奨TF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勝率傾向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Meiryo UI"/>
                        </a:defRPr>
                      </a:pPr>
                      <a:r>
                        <a:t>RRR傾向</a:t>
                      </a:r>
                    </a:p>
                  </a:txBody>
                  <a:tcPr>
                    <a:solidFill>
                      <a:srgbClr val="1A3C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ブレイクアウト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レンジ→トレンド転換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1H-日足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低〜中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プルバック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トレンド相場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4H-日足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中〜高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高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ミーンリバージョン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レンジ相場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15分-4H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低〜中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VWAP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デイトレ/レンジ&amp;トレンド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5分-1H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中</a:t>
                      </a:r>
                    </a:p>
                  </a:txBody>
                  <a:tcPr>
                    <a:solidFill>
                      <a:srgbClr val="EAECE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ORB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ボラタイルなオープン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5分-15分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2C3E50"/>
                          </a:solidFill>
                          <a:latin typeface="Meiryo UI"/>
                        </a:defRPr>
                      </a:pPr>
                      <a:r>
                        <a:t>中〜高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トレード戦略集    |    URIKAI Trading Academy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自分に合った戦略の選び方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105156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性格：忍耐強い → スイング/プルバック、せっかち → スキャルピング/ORB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生活スタイル：時間が限られる → スイング/日足、常時監視可能 → デイトレ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リスク許容度：保守的 → プルバック/ミーンリバージョン、積極的 → ブレイクアウト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1つの戦略を徹底的にマスターすることが最優先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複数戦略を同時に学ぶと中途半端になる → まず1つを100トレード</a:t>
            </a:r>
          </a:p>
          <a:p>
            <a:pPr>
              <a:spcAft>
                <a:spcPts val="1019"/>
              </a:spcAft>
              <a:defRPr sz="1700">
                <a:solidFill>
                  <a:srgbClr val="2C3E50"/>
                </a:solidFill>
                <a:latin typeface="Meiryo UI"/>
              </a:defRPr>
            </a:pPr>
            <a:r>
              <a:t>▪  バックテストでデータを取り、自分の性格との相性を確認する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937760"/>
            <a:ext cx="54864" cy="1005840"/>
          </a:xfrm>
          <a:prstGeom prst="rect">
            <a:avLst/>
          </a:prstGeom>
          <a:solidFill>
            <a:srgbClr val="2E86C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" y="4937760"/>
            <a:ext cx="10460736" cy="10058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27000" bIns="127000"/>
          <a:lstStyle/>
          <a:p>
            <a:pPr algn="ctr">
              <a:defRPr sz="1400">
                <a:solidFill>
                  <a:srgbClr val="2C3E50"/>
                </a:solidFill>
                <a:latin typeface="Meiryo UI"/>
              </a:defRPr>
            </a:pPr>
            <a:r>
              <a:t>POINT：最良の戦略は「自分が一貫して実行できる戦略」。勝率が高くても、自分の性格や生活に合わなければ長期的に実行できない。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トレード戦略集    |    URIKAI Trading Academy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68680"/>
            <a:ext cx="12191695" cy="36576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eiryo UI"/>
              </a:defRPr>
            </a:pPr>
            <a:r>
              <a:t>まとめ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18872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分類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121615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トレンドフォロー、逆張り、ブレイクアウト、モメンタム、レンジ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73736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ブレイクアウト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76479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パターン/レンジ突破、フェイクアウトに注意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28600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プルバック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1343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トレンド中の押し目/戻り、高RRR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83464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ミーンリバージョン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286207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BB/RSI極値からの回帰、レンジ相場専用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3383280"/>
            <a:ext cx="2560320" cy="411480"/>
          </a:xfrm>
          <a:prstGeom prst="roundRect">
            <a:avLst/>
          </a:prstGeom>
          <a:solidFill>
            <a:srgbClr val="0A2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Meiryo UI"/>
              </a:defRPr>
            </a:pPr>
            <a:r>
              <a:t>選び方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410712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  <a:latin typeface="Meiryo UI"/>
              </a:defRPr>
            </a:pPr>
            <a:r>
              <a:t>性格・生活・リスク許容度に合う1つを徹底マスター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04800"/>
          <a:lstStyle/>
          <a:p>
            <a:pPr algn="ctr">
              <a:defRPr sz="900">
                <a:solidFill>
                  <a:srgbClr val="AEB6BF"/>
                </a:solidFill>
                <a:latin typeface="Meiryo UI"/>
              </a:defRPr>
            </a:pPr>
            <a:r>
              <a:t>  トレード戦略集    |    URIKAI Trading Academy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510528"/>
            <a:ext cx="12191695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D4A537"/>
                </a:solidFill>
                <a:latin typeface="Meiryo UI"/>
              </a:defRPr>
            </a:pPr>
            <a:r>
              <a:t>End of Section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0" y="4572000"/>
            <a:ext cx="2103120" cy="27432"/>
          </a:xfrm>
          <a:prstGeom prst="rect">
            <a:avLst/>
          </a:prstGeom>
          <a:solidFill>
            <a:srgbClr val="D4A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9377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EB6BF"/>
                </a:solidFill>
                <a:latin typeface="Meiryo UI"/>
              </a:defRPr>
            </a:pPr>
            <a:r>
              <a:t>URIKAI Trading Academy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