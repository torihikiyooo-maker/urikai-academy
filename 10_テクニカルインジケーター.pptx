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4A537"/>
                </a:solidFill>
                <a:latin typeface="Meiryo UI"/>
              </a:defRPr>
            </a:pPr>
            <a: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eiryo UI"/>
              </a:defRPr>
            </a:pPr>
            <a:r>
              <a:t>テクニカルインジケーター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EB6BF"/>
                </a:solidFill>
                <a:latin typeface="Meiryo UI"/>
              </a:defRPr>
            </a:pPr>
            <a:r>
              <a:t>Technical Indicators ── 価格データを数値化する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846320"/>
            <a:ext cx="2103120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EB6BF"/>
                </a:solidFill>
                <a:latin typeface="Meiryo UI"/>
              </a:defRPr>
            </a:pPr>
            <a:r>
              <a:t>URIKAI Trading Academy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テクニカルインジケーターとは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価格・出来高データに数学的計算を適用して導出される補助指標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先行指標（Leading）── 価格変動の「前」にシグナルを出す（RSI、ストキャスティクス）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遅行指標（Lagging）── 価格変動の「後」にシグナルを確認する（MA、MACD）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先行指標：早いがダマシが多い / 遅行指標：遅いが信頼性が高い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インジケーターは「確認ツール」であり、単独のエントリーシグナルではない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同じ種類のインジケーターを重複させない（例：RSI＋ストキャスティクスは冗長）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テクニカルインジケーター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移動平均線（Moving Averages）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SMA（単純移動平均）── 指定期間の終値の単純平均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EMA（指数平滑移動平均）── 直近の価格に重みを置く → 反応が速い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よく使われる期間：20（短期）、50（中期）、100（中長期）、200（長期）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ゴールデンクロス ── 短期MAが長期MAを上抜け → 上昇シグナル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デッドクロス ── 短期MAが長期MAを下抜け → 下落シグナル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トレンドフィルターとして：価格がMAの上 ＝ 上昇基調、下 ＝ 下落基調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937760"/>
            <a:ext cx="54864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4937760"/>
            <a:ext cx="10460736" cy="10058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ctr">
              <a:defRPr sz="1400">
                <a:solidFill>
                  <a:srgbClr val="2C3E50"/>
                </a:solidFill>
                <a:latin typeface="Meiryo UI"/>
              </a:defRPr>
            </a:pPr>
            <a:r>
              <a:t>POINT：200SMA/EMAは世界中のトレーダーが注目するレベル。機関投資家も長期トレンドの判断に使用する。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テクニカルインジケーター    |    URIKAI Trading Academy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RSI（Relative Strength Index）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一定期間の上昇幅と下落幅の比率から「買われすぎ/売られすぎ」を測定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期間：14が標準、0〜100のスケール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70以上 ＝ 買われすぎ（過熱）、30以下 ＝ 売られすぎ（売り枯れ）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50ライン ── 上昇/下落の境界線。50の上 ＝ 強気、下 ＝ 弱気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ダイバージェンス：価格は高値更新なのにRSIは下降 → トレンド弱体化の警告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強いトレンド中は買われすぎ/売られすぎが長期間続くため逆張りは危険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テクニカルインジケーター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MACD（Moving Average Convergence Divergence）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2本のEMAの差分（乖離）を可視化するトレンド系インジケーター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MACDライン ＝ 短期EMA（12）- 長期EMA（26）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シグナルライン ＝ MACDラインの9期間EMA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ヒストグラム ＝ MACDライン - シグナルライン（モメンタムの強さ）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ゴールデンクロス：MACDがシグナルを上抜け → 買いシグナル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ゼロライン超え：MACDがゼロを上抜け → 上昇トレンド確認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ダイバージェンス：価格とMACDの方向が不一致 → トレンド転換の警告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テクニカルインジケーター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ボリンジャーバンド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移動平均線を中心に標準偏差で上下のバンドを描く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ミドルバンド ＝ 20SMA、アッパー ＝ +2σ、ロワー ＝ -2σ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統計的に価格の約95%がバンド内に収まる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スクイーズ ── バンド幅が縮小 ＝ 低ボラティリティ → ブレイクアウトの前兆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エクスパンション ── バンド幅が拡大 ＝ 高ボラティリティ → トレンド発生中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バンドウォーク ── 強いトレンドで価格がバンドに沿って移動する現象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テクニカルインジケーター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ATR（Average True Range）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一定期間の「真の値幅」の平均 ＝ ボラティリティの数値指標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ATRが高い ＝ ボラティリティが高い、ATRが低い ＝ ボラティリティが低い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方向性は示さない ── 上昇/下落のどちらにも使える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ストップロスの設定に活用：SL ＝ エントリー価格 ± ATR × 1.5〜2.0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ポジションサイジングの調整：ATR高 → ロット減、ATR低 → ロット増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市場環境の変化を検知：ATRの急上昇 ＝ 市場の変調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937760"/>
            <a:ext cx="54864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4937760"/>
            <a:ext cx="10460736" cy="10058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ctr">
              <a:defRPr sz="1400">
                <a:solidFill>
                  <a:srgbClr val="2C3E50"/>
                </a:solidFill>
                <a:latin typeface="Meiryo UI"/>
              </a:defRPr>
            </a:pPr>
            <a:r>
              <a:t>POINT：ATRは最も実用的なインジケーターの一つ。SLの設定とポジションサイズの調整に直接使える。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テクニカルインジケーター    |    URIKAI Trading Academy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一目均衡表（Ichimoku Cloud）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転換線（Tenkan-sen）── 過去9期間の中値。短期トレンド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基準線（Kijun-sen）── 過去26期間の中値。中期トレンド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先行スパンA/B ── 雲（Cloud/Kumo）を形成。将来のS/Rゾーン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遅行スパン（Chikou Span）── 現在の終値を26期間前にプロット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価格が雲の上 ＝ 強気、下 ＝ 弱気、中 ＝ 方向性なし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転換線が基準線を上抜け ＝ 買いシグナル（雲の上ならさらに強い）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テクニカルインジケーター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インジケーター活用の注意点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インジケーターを増やしすぎない ── 2〜3個を組み合わせるのが最適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同種インジケーターの重複を避ける ── トレンド系＋オシレーター系を1つずつ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推奨組み合わせ例：MA（トレンド方向）＋ RSI（タイミング）＋ ATR（SL設定）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インジケーターは「確認」のためのツール ── 価格とS/Rが最優先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パラメータの最適化に走りすぎない ── 標準設定が最も多くのトレーダーに使われている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バックテストで自分のスタイルに合う組み合わせを検証する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テクニカルインジケーター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まとめ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分類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21615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先行指標（RSI等）と遅行指標（MA等）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移動平均線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76479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トレンド方向の判断、ダイナミックS/R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8600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RSI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31343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買われすぎ/売られすぎ、ダイバージェンス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83464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MACD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6207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トレンドとモメンタム、ゴールデン/デッドクロス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8328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ボリンジャーバンド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41071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スクイーズ→ブレイクアウト、バンドウォーク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93192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ATR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95935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ボラティリティ計測、SL設定に直結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48056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一目均衡表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450799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雲でトレンド・S/Rを一目で把握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テクニカルインジケーター    |    URIKAI Trading Academy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4A537"/>
                </a:solidFill>
                <a:latin typeface="Meiryo UI"/>
              </a:defRPr>
            </a:pPr>
            <a:r>
              <a:t>End of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EB6BF"/>
                </a:solidFill>
                <a:latin typeface="Meiryo UI"/>
              </a:defRPr>
            </a:pPr>
            <a:r>
              <a:t>Next → チャートパターン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4572000"/>
            <a:ext cx="2103120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EB6BF"/>
                </a:solidFill>
                <a:latin typeface="Meiryo UI"/>
              </a:defRPr>
            </a:pPr>
            <a:r>
              <a:t>URIKAI Trading Academy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