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D4A537"/>
                </a:solidFill>
                <a:latin typeface="Meiryo UI"/>
              </a:defRPr>
            </a:pPr>
            <a:r>
              <a:t>SECTION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Meiryo UI"/>
              </a:defRPr>
            </a:pPr>
            <a:r>
              <a:t>市場の仕組み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AEB6BF"/>
                </a:solidFill>
                <a:latin typeface="Meiryo UI"/>
              </a:defRPr>
            </a:pPr>
            <a:r>
              <a:t>価格が動く原理と取引構造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0" y="4846320"/>
            <a:ext cx="2103120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52120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EB6BF"/>
                </a:solidFill>
                <a:latin typeface="Meiryo UI"/>
              </a:defRPr>
            </a:pPr>
            <a:r>
              <a:t>URIKAI Trading Academy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36576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eiryo UI"/>
              </a:defRPr>
            </a:pPr>
            <a:r>
              <a:t>取引所取引 vs OTC取引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取引所取引 ── 中央の取引所を通じて売買（株式、先物、オプション）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OTC（Over The Counter）取引 ── 当事者同士が直接取引（FX）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FXは世界中の銀行ネットワークで成り立つ分散型OTC市場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取引所取引：価格の透明性が高い、規格化された商品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OTC取引：柔軟な条件設定が可能、24時間取引、カウンターパーティリスクあり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04800"/>
          <a:lstStyle/>
          <a:p>
            <a:pPr algn="ctr">
              <a:defRPr sz="900">
                <a:solidFill>
                  <a:srgbClr val="AEB6BF"/>
                </a:solidFill>
                <a:latin typeface="Meiryo UI"/>
              </a:defRPr>
            </a:pPr>
            <a:r>
              <a:t>  市場の仕組み    |    URIKAI Trading Academy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695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36576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eiryo UI"/>
              </a:defRPr>
            </a:pPr>
            <a:r>
              <a:t>需要と供給 ── 価格変動の原理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5156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価格が上がる ＝ 買い手 ＞ 売り手（需要 ＞ 供給）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価格が下がる ＝ 売り手 ＞ 買い手（供給 ＞ 需要）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すべての値動きはこの1つの原理から生まれる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ニュース、経済指標、テクニカルシグナル → すべて需給バランスを変化させる手段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流動性が薄い時間帯 ＝ 少しの売買で価格が大きく変動する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大口注文が入る価格帯を意識することがトレードの基本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4937760"/>
            <a:ext cx="54864" cy="100584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86384" y="4937760"/>
            <a:ext cx="10460736" cy="100584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27000" bIns="127000"/>
          <a:lstStyle/>
          <a:p>
            <a:pPr algn="ctr">
              <a:defRPr sz="1400">
                <a:solidFill>
                  <a:srgbClr val="2C3E50"/>
                </a:solidFill>
                <a:latin typeface="Meiryo UI"/>
              </a:defRPr>
            </a:pPr>
            <a:r>
              <a:t>POINT：あらゆる分析手法は、最終的に「需要と供給のバランスがどちらに傾くか」を予測するためのツール。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04800"/>
          <a:lstStyle/>
          <a:p>
            <a:pPr algn="ctr">
              <a:defRPr sz="900">
                <a:solidFill>
                  <a:srgbClr val="AEB6BF"/>
                </a:solidFill>
                <a:latin typeface="Meiryo UI"/>
              </a:defRPr>
            </a:pPr>
            <a:r>
              <a:t>  市場の仕組み    |    URIKAI Trading Academy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91695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36576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eiryo UI"/>
              </a:defRPr>
            </a:pPr>
            <a:r>
              <a:t>レバレッジとマージン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5156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レバレッジ ＝ 証拠金の何倍もの取引を可能にする仕組み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例：100倍レバレッジ → 1万円の証拠金で100万円分の取引が可能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マージン（証拠金）＝ 取引に必要な担保金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必要証拠金 ＝ 取引額 ÷ レバレッジ倍率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マージンコール ＝ 証拠金不足の警告（追加入金または決済が必要）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ストップアウト ＝ 証拠金維持率が基準以下で強制決済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4937760"/>
            <a:ext cx="54864" cy="100584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86384" y="4937760"/>
            <a:ext cx="10460736" cy="100584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27000" bIns="127000"/>
          <a:lstStyle/>
          <a:p>
            <a:pPr algn="ctr">
              <a:defRPr sz="1400">
                <a:solidFill>
                  <a:srgbClr val="2C3E50"/>
                </a:solidFill>
                <a:latin typeface="Meiryo UI"/>
              </a:defRPr>
            </a:pPr>
            <a:r>
              <a:t>POINT：レバレッジは利益も損失も倍増させる。高いレバレッジ＝高リスク。適正なレバレッジ管理がトレーダーの生存に直結する。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04800"/>
          <a:lstStyle/>
          <a:p>
            <a:pPr algn="ctr">
              <a:defRPr sz="900">
                <a:solidFill>
                  <a:srgbClr val="AEB6BF"/>
                </a:solidFill>
                <a:latin typeface="Meiryo UI"/>
              </a:defRPr>
            </a:pPr>
            <a:r>
              <a:t>  市場の仕組み    |    URIKAI Trading Academy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91695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36576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eiryo UI"/>
              </a:defRPr>
            </a:pPr>
            <a:r>
              <a:t>スリッページとリクイディティ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スリッページ ＝ 注文価格と実際の約定価格のズレ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流動性が低いとスリッページが大きくなる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重要指標発表直後はスリッページリスクが最大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リクイディティ（流動性）＝ 市場の厚み・注文板の密度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流動性が高い ＝ 大きな注文でも価格への影響が小さい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流動性が低い ＝ 小さな注文でも価格が大きく動く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04800"/>
          <a:lstStyle/>
          <a:p>
            <a:pPr algn="ctr">
              <a:defRPr sz="900">
                <a:solidFill>
                  <a:srgbClr val="AEB6BF"/>
                </a:solidFill>
                <a:latin typeface="Meiryo UI"/>
              </a:defRPr>
            </a:pPr>
            <a:r>
              <a:t>  市場の仕組み    |    URIKAI Trading Academy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695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36576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eiryo UI"/>
              </a:defRPr>
            </a:pPr>
            <a:r>
              <a:t>スワップ（ロールオーバー）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スワップ ＝ ポジションを翌日に持ち越す際の金利差調整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高金利通貨を買い、低金利通貨を売る → プラススワップ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低金利通貨を買い、高金利通貨を売る → マイナススワップ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水曜日（木曜早朝）は3倍スワップ（土日分の繰延べ）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スワップ金額はブローカーにより異なる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デイトレーダーは翌日持ち越さないため基本的にスワップは無関係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04800"/>
          <a:lstStyle/>
          <a:p>
            <a:pPr algn="ctr">
              <a:defRPr sz="900">
                <a:solidFill>
                  <a:srgbClr val="AEB6BF"/>
                </a:solidFill>
                <a:latin typeface="Meiryo UI"/>
              </a:defRPr>
            </a:pPr>
            <a:r>
              <a:t>  市場の仕組み    |    URIKAI Trading Academy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695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36576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eiryo UI"/>
              </a:defRPr>
            </a:pPr>
            <a:r>
              <a:t>まとめ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2560320" cy="411480"/>
          </a:xfrm>
          <a:prstGeom prst="roundRect">
            <a:avLst/>
          </a:prstGeom>
          <a:solidFill>
            <a:srgbClr val="0A2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Meiryo UI"/>
              </a:defRPr>
            </a:pPr>
            <a:r>
              <a:t>取引構造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1216152"/>
            <a:ext cx="8503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Meiryo UI"/>
              </a:defRPr>
            </a:pPr>
            <a:r>
              <a:t>取引所（株式・先物）vs OTC（FX）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737360"/>
            <a:ext cx="2560320" cy="411480"/>
          </a:xfrm>
          <a:prstGeom prst="roundRect">
            <a:avLst/>
          </a:prstGeom>
          <a:solidFill>
            <a:srgbClr val="0A2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Meiryo UI"/>
              </a:defRPr>
            </a:pPr>
            <a:r>
              <a:t>需給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764792"/>
            <a:ext cx="8503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Meiryo UI"/>
              </a:defRPr>
            </a:pPr>
            <a:r>
              <a:t>すべての価格変動は需要と供給のバランスで決まる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286000"/>
            <a:ext cx="2560320" cy="411480"/>
          </a:xfrm>
          <a:prstGeom prst="roundRect">
            <a:avLst/>
          </a:prstGeom>
          <a:solidFill>
            <a:srgbClr val="0A2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Meiryo UI"/>
              </a:defRPr>
            </a:pPr>
            <a:r>
              <a:t>レバレッジ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2313432"/>
            <a:ext cx="8503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Meiryo UI"/>
              </a:defRPr>
            </a:pPr>
            <a:r>
              <a:t>利益も損失も倍増、管理がトレーダーの生命線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834640"/>
            <a:ext cx="2560320" cy="411480"/>
          </a:xfrm>
          <a:prstGeom prst="roundRect">
            <a:avLst/>
          </a:prstGeom>
          <a:solidFill>
            <a:srgbClr val="0A2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Meiryo UI"/>
              </a:defRPr>
            </a:pPr>
            <a:r>
              <a:t>スリッページ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862072"/>
            <a:ext cx="8503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Meiryo UI"/>
              </a:defRPr>
            </a:pPr>
            <a:r>
              <a:t>注文と約定のズレ、流動性に依存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383280"/>
            <a:ext cx="2560320" cy="411480"/>
          </a:xfrm>
          <a:prstGeom prst="roundRect">
            <a:avLst/>
          </a:prstGeom>
          <a:solidFill>
            <a:srgbClr val="0A2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Meiryo UI"/>
              </a:defRPr>
            </a:pPr>
            <a:r>
              <a:t>スワップ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3410712"/>
            <a:ext cx="8503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Meiryo UI"/>
              </a:defRPr>
            </a:pPr>
            <a:r>
              <a:t>ポジション持ち越し時の金利差調整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04800"/>
          <a:lstStyle/>
          <a:p>
            <a:pPr algn="ctr">
              <a:defRPr sz="900">
                <a:solidFill>
                  <a:srgbClr val="AEB6BF"/>
                </a:solidFill>
                <a:latin typeface="Meiryo UI"/>
              </a:defRPr>
            </a:pPr>
            <a:r>
              <a:t>  市場の仕組み    |    URIKAI Trading Academy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10528"/>
            <a:ext cx="12191695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D4A537"/>
                </a:solidFill>
                <a:latin typeface="Meiryo UI"/>
              </a:defRPr>
            </a:pPr>
            <a:r>
              <a:t>End of Section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AEB6BF"/>
                </a:solidFill>
                <a:latin typeface="Meiryo UI"/>
              </a:defRPr>
            </a:pPr>
            <a:r>
              <a:t>Next → 注文の種類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4572000"/>
            <a:ext cx="2103120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49377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EB6BF"/>
                </a:solidFill>
                <a:latin typeface="Meiryo UI"/>
              </a:defRPr>
            </a:pPr>
            <a:r>
              <a:t>URIKAI Trading Academy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