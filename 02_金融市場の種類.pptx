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457200"/>
          </a:xfrm>
          <a:prstGeom prst="rect">
            <a:avLst/>
          </a:prstGeom>
          <a:noFill/>
        </p:spPr>
        <p:txBody>
          <a:bodyPr wrap="square">
            <a:spAutoFit/>
          </a:bodyPr>
          <a:lstStyle/>
          <a:p>
            <a:pPr algn="ctr">
              <a:defRPr sz="1600" b="0">
                <a:solidFill>
                  <a:srgbClr val="D4A537"/>
                </a:solidFill>
                <a:latin typeface="Meiryo UI"/>
              </a:defRPr>
            </a:pPr>
            <a:r>
              <a:t>SECTION 02</a:t>
            </a: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800" b="1">
                <a:solidFill>
                  <a:srgbClr val="FFFFFF"/>
                </a:solidFill>
                <a:latin typeface="Meiryo UI"/>
              </a:defRPr>
            </a:pPr>
            <a:r>
              <a:t>金融市場の種類</a:t>
            </a:r>
          </a:p>
        </p:txBody>
      </p:sp>
      <p:sp>
        <p:nvSpPr>
          <p:cNvPr id="5" name="TextBox 4"/>
          <p:cNvSpPr txBox="1"/>
          <p:nvPr/>
        </p:nvSpPr>
        <p:spPr>
          <a:xfrm>
            <a:off x="914400" y="3840480"/>
            <a:ext cx="10058400" cy="731520"/>
          </a:xfrm>
          <a:prstGeom prst="rect">
            <a:avLst/>
          </a:prstGeom>
          <a:noFill/>
        </p:spPr>
        <p:txBody>
          <a:bodyPr wrap="square">
            <a:spAutoFit/>
          </a:bodyPr>
          <a:lstStyle/>
          <a:p>
            <a:pPr algn="ctr">
              <a:defRPr sz="2000" b="0">
                <a:solidFill>
                  <a:srgbClr val="AEB6BF"/>
                </a:solidFill>
                <a:latin typeface="Meiryo UI"/>
              </a:defRPr>
            </a:pPr>
            <a:r>
              <a:t>FX・株式・債券・商品・暗号資産・デリバティブ</a:t>
            </a:r>
          </a:p>
        </p:txBody>
      </p:sp>
      <p:sp>
        <p:nvSpPr>
          <p:cNvPr id="6" name="Rectangle 5"/>
          <p:cNvSpPr/>
          <p:nvPr/>
        </p:nvSpPr>
        <p:spPr>
          <a:xfrm>
            <a:off x="5029200" y="4846320"/>
            <a:ext cx="2103120"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12080"/>
            <a:ext cx="10058400" cy="457200"/>
          </a:xfrm>
          <a:prstGeom prst="rect">
            <a:avLst/>
          </a:prstGeom>
          <a:noFill/>
        </p:spPr>
        <p:txBody>
          <a:bodyPr wrap="square">
            <a:spAutoFit/>
          </a:bodyPr>
          <a:lstStyle/>
          <a:p>
            <a:pPr algn="ctr">
              <a:defRPr sz="1400" b="0">
                <a:solidFill>
                  <a:srgbClr val="AEB6BF"/>
                </a:solidFill>
                <a:latin typeface="Meiryo UI"/>
              </a:defRPr>
            </a:pPr>
            <a:r>
              <a:t>URIKAI Trading Academy</a:t>
            </a:r>
          </a:p>
        </p:txBody>
      </p:sp>
      <p:sp>
        <p:nvSpPr>
          <p:cNvPr id="8" name="Rectangle 7"/>
          <p:cNvSpPr/>
          <p:nvPr/>
        </p:nvSpPr>
        <p:spPr>
          <a:xfrm>
            <a:off x="0" y="6400800"/>
            <a:ext cx="12191695" cy="457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主要な金融市場の比較</a:t>
            </a:r>
          </a:p>
        </p:txBody>
      </p:sp>
      <p:graphicFrame>
        <p:nvGraphicFramePr>
          <p:cNvPr id="5" name="Table 4"/>
          <p:cNvGraphicFramePr>
            <a:graphicFrameLocks noGrp="1"/>
          </p:cNvGraphicFramePr>
          <p:nvPr/>
        </p:nvGraphicFramePr>
        <p:xfrm>
          <a:off x="457200" y="1188720"/>
          <a:ext cx="11247120" cy="2688336"/>
        </p:xfrm>
        <a:graphic>
          <a:graphicData uri="http://schemas.openxmlformats.org/drawingml/2006/table">
            <a:tbl>
              <a:tblPr firstRow="1" bandRow="1">
                <a:tableStyleId>{5C22544A-7EE6-4342-B048-85BDC9FD1C3A}</a:tableStyleId>
              </a:tblPr>
              <a:tblGrid>
                <a:gridCol w="2811780"/>
                <a:gridCol w="2811780"/>
                <a:gridCol w="2811780"/>
                <a:gridCol w="2811780"/>
              </a:tblGrid>
              <a:tr h="384048">
                <a:tc>
                  <a:txBody>
                    <a:bodyPr/>
                    <a:lstStyle/>
                    <a:p>
                      <a:pPr>
                        <a:defRPr sz="1300" b="1">
                          <a:solidFill>
                            <a:srgbClr val="FFFFFF"/>
                          </a:solidFill>
                          <a:latin typeface="Meiryo UI"/>
                        </a:defRPr>
                      </a:pPr>
                      <a:r>
                        <a:t>市場</a:t>
                      </a:r>
                    </a:p>
                  </a:txBody>
                  <a:tcPr>
                    <a:solidFill>
                      <a:srgbClr val="1A3C6E"/>
                    </a:solidFill>
                  </a:tcPr>
                </a:tc>
                <a:tc>
                  <a:txBody>
                    <a:bodyPr/>
                    <a:lstStyle/>
                    <a:p>
                      <a:pPr>
                        <a:defRPr sz="1300" b="1">
                          <a:solidFill>
                            <a:srgbClr val="FFFFFF"/>
                          </a:solidFill>
                          <a:latin typeface="Meiryo UI"/>
                        </a:defRPr>
                      </a:pPr>
                      <a:r>
                        <a:t>取引対象</a:t>
                      </a:r>
                    </a:p>
                  </a:txBody>
                  <a:tcPr>
                    <a:solidFill>
                      <a:srgbClr val="1A3C6E"/>
                    </a:solidFill>
                  </a:tcPr>
                </a:tc>
                <a:tc>
                  <a:txBody>
                    <a:bodyPr/>
                    <a:lstStyle/>
                    <a:p>
                      <a:pPr>
                        <a:defRPr sz="1300" b="1">
                          <a:solidFill>
                            <a:srgbClr val="FFFFFF"/>
                          </a:solidFill>
                          <a:latin typeface="Meiryo UI"/>
                        </a:defRPr>
                      </a:pPr>
                      <a:r>
                        <a:t>1日の取引量</a:t>
                      </a:r>
                    </a:p>
                  </a:txBody>
                  <a:tcPr>
                    <a:solidFill>
                      <a:srgbClr val="1A3C6E"/>
                    </a:solidFill>
                  </a:tcPr>
                </a:tc>
                <a:tc>
                  <a:txBody>
                    <a:bodyPr/>
                    <a:lstStyle/>
                    <a:p>
                      <a:pPr>
                        <a:defRPr sz="1300" b="1">
                          <a:solidFill>
                            <a:srgbClr val="FFFFFF"/>
                          </a:solidFill>
                          <a:latin typeface="Meiryo UI"/>
                        </a:defRPr>
                      </a:pPr>
                      <a:r>
                        <a:t>特徴</a:t>
                      </a:r>
                    </a:p>
                  </a:txBody>
                  <a:tcPr>
                    <a:solidFill>
                      <a:srgbClr val="1A3C6E"/>
                    </a:solidFill>
                  </a:tcPr>
                </a:tc>
              </a:tr>
              <a:tr h="384048">
                <a:tc>
                  <a:txBody>
                    <a:bodyPr/>
                    <a:lstStyle/>
                    <a:p>
                      <a:pPr>
                        <a:defRPr sz="1300">
                          <a:solidFill>
                            <a:srgbClr val="2C3E50"/>
                          </a:solidFill>
                          <a:latin typeface="Meiryo UI"/>
                        </a:defRPr>
                      </a:pPr>
                      <a:r>
                        <a:t>外国為替（FX）</a:t>
                      </a:r>
                    </a:p>
                  </a:txBody>
                  <a:tcPr/>
                </a:tc>
                <a:tc>
                  <a:txBody>
                    <a:bodyPr/>
                    <a:lstStyle/>
                    <a:p>
                      <a:pPr>
                        <a:defRPr sz="1300">
                          <a:solidFill>
                            <a:srgbClr val="2C3E50"/>
                          </a:solidFill>
                          <a:latin typeface="Meiryo UI"/>
                        </a:defRPr>
                      </a:pPr>
                      <a:r>
                        <a:t>通貨ペア</a:t>
                      </a:r>
                    </a:p>
                  </a:txBody>
                  <a:tcPr/>
                </a:tc>
                <a:tc>
                  <a:txBody>
                    <a:bodyPr/>
                    <a:lstStyle/>
                    <a:p>
                      <a:pPr>
                        <a:defRPr sz="1300">
                          <a:solidFill>
                            <a:srgbClr val="2C3E50"/>
                          </a:solidFill>
                          <a:latin typeface="Meiryo UI"/>
                        </a:defRPr>
                      </a:pPr>
                      <a:r>
                        <a:t>約7.5兆ドル</a:t>
                      </a:r>
                    </a:p>
                  </a:txBody>
                  <a:tcPr/>
                </a:tc>
                <a:tc>
                  <a:txBody>
                    <a:bodyPr/>
                    <a:lstStyle/>
                    <a:p>
                      <a:pPr>
                        <a:defRPr sz="1300">
                          <a:solidFill>
                            <a:srgbClr val="2C3E50"/>
                          </a:solidFill>
                          <a:latin typeface="Meiryo UI"/>
                        </a:defRPr>
                      </a:pPr>
                      <a:r>
                        <a:t>24時間取引、世界最大、OTC</a:t>
                      </a:r>
                    </a:p>
                  </a:txBody>
                  <a:tcPr/>
                </a:tc>
              </a:tr>
              <a:tr h="384048">
                <a:tc>
                  <a:txBody>
                    <a:bodyPr/>
                    <a:lstStyle/>
                    <a:p>
                      <a:pPr>
                        <a:defRPr sz="1300">
                          <a:solidFill>
                            <a:srgbClr val="2C3E50"/>
                          </a:solidFill>
                          <a:latin typeface="Meiryo UI"/>
                        </a:defRPr>
                      </a:pPr>
                      <a:r>
                        <a:t>株式市場</a:t>
                      </a:r>
                    </a:p>
                  </a:txBody>
                  <a:tcPr>
                    <a:solidFill>
                      <a:srgbClr val="EAECEE"/>
                    </a:solidFill>
                  </a:tcPr>
                </a:tc>
                <a:tc>
                  <a:txBody>
                    <a:bodyPr/>
                    <a:lstStyle/>
                    <a:p>
                      <a:pPr>
                        <a:defRPr sz="1300">
                          <a:solidFill>
                            <a:srgbClr val="2C3E50"/>
                          </a:solidFill>
                          <a:latin typeface="Meiryo UI"/>
                        </a:defRPr>
                      </a:pPr>
                      <a:r>
                        <a:t>企業の株式</a:t>
                      </a:r>
                    </a:p>
                  </a:txBody>
                  <a:tcPr>
                    <a:solidFill>
                      <a:srgbClr val="EAECEE"/>
                    </a:solidFill>
                  </a:tcPr>
                </a:tc>
                <a:tc>
                  <a:txBody>
                    <a:bodyPr/>
                    <a:lstStyle/>
                    <a:p>
                      <a:pPr>
                        <a:defRPr sz="1300">
                          <a:solidFill>
                            <a:srgbClr val="2C3E50"/>
                          </a:solidFill>
                          <a:latin typeface="Meiryo UI"/>
                        </a:defRPr>
                      </a:pPr>
                      <a:r>
                        <a:t>約2,000億ドル</a:t>
                      </a:r>
                    </a:p>
                  </a:txBody>
                  <a:tcPr>
                    <a:solidFill>
                      <a:srgbClr val="EAECEE"/>
                    </a:solidFill>
                  </a:tcPr>
                </a:tc>
                <a:tc>
                  <a:txBody>
                    <a:bodyPr/>
                    <a:lstStyle/>
                    <a:p>
                      <a:pPr>
                        <a:defRPr sz="1300">
                          <a:solidFill>
                            <a:srgbClr val="2C3E50"/>
                          </a:solidFill>
                          <a:latin typeface="Meiryo UI"/>
                        </a:defRPr>
                      </a:pPr>
                      <a:r>
                        <a:t>取引所ベース、取引時間あり</a:t>
                      </a:r>
                    </a:p>
                  </a:txBody>
                  <a:tcPr>
                    <a:solidFill>
                      <a:srgbClr val="EAECEE"/>
                    </a:solidFill>
                  </a:tcPr>
                </a:tc>
              </a:tr>
              <a:tr h="384048">
                <a:tc>
                  <a:txBody>
                    <a:bodyPr/>
                    <a:lstStyle/>
                    <a:p>
                      <a:pPr>
                        <a:defRPr sz="1300">
                          <a:solidFill>
                            <a:srgbClr val="2C3E50"/>
                          </a:solidFill>
                          <a:latin typeface="Meiryo UI"/>
                        </a:defRPr>
                      </a:pPr>
                      <a:r>
                        <a:t>債券市場</a:t>
                      </a:r>
                    </a:p>
                  </a:txBody>
                  <a:tcPr/>
                </a:tc>
                <a:tc>
                  <a:txBody>
                    <a:bodyPr/>
                    <a:lstStyle/>
                    <a:p>
                      <a:pPr>
                        <a:defRPr sz="1300">
                          <a:solidFill>
                            <a:srgbClr val="2C3E50"/>
                          </a:solidFill>
                          <a:latin typeface="Meiryo UI"/>
                        </a:defRPr>
                      </a:pPr>
                      <a:r>
                        <a:t>国債・社債</a:t>
                      </a:r>
                    </a:p>
                  </a:txBody>
                  <a:tcPr/>
                </a:tc>
                <a:tc>
                  <a:txBody>
                    <a:bodyPr/>
                    <a:lstStyle/>
                    <a:p>
                      <a:pPr>
                        <a:defRPr sz="1300">
                          <a:solidFill>
                            <a:srgbClr val="2C3E50"/>
                          </a:solidFill>
                          <a:latin typeface="Meiryo UI"/>
                        </a:defRPr>
                      </a:pPr>
                      <a:r>
                        <a:t>約1兆ドル</a:t>
                      </a:r>
                    </a:p>
                  </a:txBody>
                  <a:tcPr/>
                </a:tc>
                <a:tc>
                  <a:txBody>
                    <a:bodyPr/>
                    <a:lstStyle/>
                    <a:p>
                      <a:pPr>
                        <a:defRPr sz="1300">
                          <a:solidFill>
                            <a:srgbClr val="2C3E50"/>
                          </a:solidFill>
                          <a:latin typeface="Meiryo UI"/>
                        </a:defRPr>
                      </a:pPr>
                      <a:r>
                        <a:t>金利に連動、機関投資家中心</a:t>
                      </a:r>
                    </a:p>
                  </a:txBody>
                  <a:tcPr/>
                </a:tc>
              </a:tr>
              <a:tr h="384048">
                <a:tc>
                  <a:txBody>
                    <a:bodyPr/>
                    <a:lstStyle/>
                    <a:p>
                      <a:pPr>
                        <a:defRPr sz="1300">
                          <a:solidFill>
                            <a:srgbClr val="2C3E50"/>
                          </a:solidFill>
                          <a:latin typeface="Meiryo UI"/>
                        </a:defRPr>
                      </a:pPr>
                      <a:r>
                        <a:t>商品市場</a:t>
                      </a:r>
                    </a:p>
                  </a:txBody>
                  <a:tcPr>
                    <a:solidFill>
                      <a:srgbClr val="EAECEE"/>
                    </a:solidFill>
                  </a:tcPr>
                </a:tc>
                <a:tc>
                  <a:txBody>
                    <a:bodyPr/>
                    <a:lstStyle/>
                    <a:p>
                      <a:pPr>
                        <a:defRPr sz="1300">
                          <a:solidFill>
                            <a:srgbClr val="2C3E50"/>
                          </a:solidFill>
                          <a:latin typeface="Meiryo UI"/>
                        </a:defRPr>
                      </a:pPr>
                      <a:r>
                        <a:t>金・原油・農作物</a:t>
                      </a:r>
                    </a:p>
                  </a:txBody>
                  <a:tcPr>
                    <a:solidFill>
                      <a:srgbClr val="EAECEE"/>
                    </a:solidFill>
                  </a:tcPr>
                </a:tc>
                <a:tc>
                  <a:txBody>
                    <a:bodyPr/>
                    <a:lstStyle/>
                    <a:p>
                      <a:pPr>
                        <a:defRPr sz="1300">
                          <a:solidFill>
                            <a:srgbClr val="2C3E50"/>
                          </a:solidFill>
                          <a:latin typeface="Meiryo UI"/>
                        </a:defRPr>
                      </a:pPr>
                      <a:r>
                        <a:t>約5,000億ドル</a:t>
                      </a:r>
                    </a:p>
                  </a:txBody>
                  <a:tcPr>
                    <a:solidFill>
                      <a:srgbClr val="EAECEE"/>
                    </a:solidFill>
                  </a:tcPr>
                </a:tc>
                <a:tc>
                  <a:txBody>
                    <a:bodyPr/>
                    <a:lstStyle/>
                    <a:p>
                      <a:pPr>
                        <a:defRPr sz="1300">
                          <a:solidFill>
                            <a:srgbClr val="2C3E50"/>
                          </a:solidFill>
                          <a:latin typeface="Meiryo UI"/>
                        </a:defRPr>
                      </a:pPr>
                      <a:r>
                        <a:t>実需+投機、季節性あり</a:t>
                      </a:r>
                    </a:p>
                  </a:txBody>
                  <a:tcPr>
                    <a:solidFill>
                      <a:srgbClr val="EAECEE"/>
                    </a:solidFill>
                  </a:tcPr>
                </a:tc>
              </a:tr>
              <a:tr h="384048">
                <a:tc>
                  <a:txBody>
                    <a:bodyPr/>
                    <a:lstStyle/>
                    <a:p>
                      <a:pPr>
                        <a:defRPr sz="1300">
                          <a:solidFill>
                            <a:srgbClr val="2C3E50"/>
                          </a:solidFill>
                          <a:latin typeface="Meiryo UI"/>
                        </a:defRPr>
                      </a:pPr>
                      <a:r>
                        <a:t>暗号資産</a:t>
                      </a:r>
                    </a:p>
                  </a:txBody>
                  <a:tcPr/>
                </a:tc>
                <a:tc>
                  <a:txBody>
                    <a:bodyPr/>
                    <a:lstStyle/>
                    <a:p>
                      <a:pPr>
                        <a:defRPr sz="1300">
                          <a:solidFill>
                            <a:srgbClr val="2C3E50"/>
                          </a:solidFill>
                          <a:latin typeface="Meiryo UI"/>
                        </a:defRPr>
                      </a:pPr>
                      <a:r>
                        <a:t>BTC・ETH等</a:t>
                      </a:r>
                    </a:p>
                  </a:txBody>
                  <a:tcPr/>
                </a:tc>
                <a:tc>
                  <a:txBody>
                    <a:bodyPr/>
                    <a:lstStyle/>
                    <a:p>
                      <a:pPr>
                        <a:defRPr sz="1300">
                          <a:solidFill>
                            <a:srgbClr val="2C3E50"/>
                          </a:solidFill>
                          <a:latin typeface="Meiryo UI"/>
                        </a:defRPr>
                      </a:pPr>
                      <a:r>
                        <a:t>約1,000億ドル</a:t>
                      </a:r>
                    </a:p>
                  </a:txBody>
                  <a:tcPr/>
                </a:tc>
                <a:tc>
                  <a:txBody>
                    <a:bodyPr/>
                    <a:lstStyle/>
                    <a:p>
                      <a:pPr>
                        <a:defRPr sz="1300">
                          <a:solidFill>
                            <a:srgbClr val="2C3E50"/>
                          </a:solidFill>
                          <a:latin typeface="Meiryo UI"/>
                        </a:defRPr>
                      </a:pPr>
                      <a:r>
                        <a:t>24/7取引、高ボラティリティ</a:t>
                      </a:r>
                    </a:p>
                  </a:txBody>
                  <a:tcPr/>
                </a:tc>
              </a:tr>
              <a:tr h="384048">
                <a:tc>
                  <a:txBody>
                    <a:bodyPr/>
                    <a:lstStyle/>
                    <a:p>
                      <a:pPr>
                        <a:defRPr sz="1300">
                          <a:solidFill>
                            <a:srgbClr val="2C3E50"/>
                          </a:solidFill>
                          <a:latin typeface="Meiryo UI"/>
                        </a:defRPr>
                      </a:pPr>
                      <a:r>
                        <a:t>デリバティブ</a:t>
                      </a:r>
                    </a:p>
                  </a:txBody>
                  <a:tcPr>
                    <a:solidFill>
                      <a:srgbClr val="EAECEE"/>
                    </a:solidFill>
                  </a:tcPr>
                </a:tc>
                <a:tc>
                  <a:txBody>
                    <a:bodyPr/>
                    <a:lstStyle/>
                    <a:p>
                      <a:pPr>
                        <a:defRPr sz="1300">
                          <a:solidFill>
                            <a:srgbClr val="2C3E50"/>
                          </a:solidFill>
                          <a:latin typeface="Meiryo UI"/>
                        </a:defRPr>
                      </a:pPr>
                      <a:r>
                        <a:t>先物・オプション</a:t>
                      </a:r>
                    </a:p>
                  </a:txBody>
                  <a:tcPr>
                    <a:solidFill>
                      <a:srgbClr val="EAECEE"/>
                    </a:solidFill>
                  </a:tcPr>
                </a:tc>
                <a:tc>
                  <a:txBody>
                    <a:bodyPr/>
                    <a:lstStyle/>
                    <a:p>
                      <a:pPr>
                        <a:defRPr sz="1300">
                          <a:solidFill>
                            <a:srgbClr val="2C3E50"/>
                          </a:solidFill>
                          <a:latin typeface="Meiryo UI"/>
                        </a:defRPr>
                      </a:pPr>
                      <a:r>
                        <a:t>数兆ドル（想定元本）</a:t>
                      </a:r>
                    </a:p>
                  </a:txBody>
                  <a:tcPr>
                    <a:solidFill>
                      <a:srgbClr val="EAECEE"/>
                    </a:solidFill>
                  </a:tcPr>
                </a:tc>
                <a:tc>
                  <a:txBody>
                    <a:bodyPr/>
                    <a:lstStyle/>
                    <a:p>
                      <a:pPr>
                        <a:defRPr sz="1300">
                          <a:solidFill>
                            <a:srgbClr val="2C3E50"/>
                          </a:solidFill>
                          <a:latin typeface="Meiryo UI"/>
                        </a:defRPr>
                      </a:pPr>
                      <a:r>
                        <a:t>レバレッジ、ヘッジ用途</a:t>
                      </a:r>
                    </a:p>
                  </a:txBody>
                  <a:tcPr>
                    <a:solidFill>
                      <a:srgbClr val="EAECEE"/>
                    </a:solidFill>
                  </a:tcPr>
                </a:tc>
              </a:tr>
            </a:tbl>
          </a:graphicData>
        </a:graphic>
      </p:graphicFrame>
      <p:sp>
        <p:nvSpPr>
          <p:cNvPr id="6" name="Rectangle 5"/>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7" name="Rectangle 6"/>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外国為替（FX）市場</a:t>
            </a:r>
          </a:p>
        </p:txBody>
      </p:sp>
      <p:sp>
        <p:nvSpPr>
          <p:cNvPr id="5" name="TextBox 4"/>
          <p:cNvSpPr txBox="1"/>
          <p:nvPr/>
        </p:nvSpPr>
        <p:spPr>
          <a:xfrm>
            <a:off x="731520" y="1188720"/>
            <a:ext cx="10515600" cy="3474720"/>
          </a:xfrm>
          <a:prstGeom prst="rect">
            <a:avLst/>
          </a:prstGeom>
          <a:noFill/>
        </p:spPr>
        <p:txBody>
          <a:bodyPr wrap="square">
            <a:spAutoFit/>
          </a:bodyPr>
          <a:lstStyle/>
          <a:p>
            <a:pPr>
              <a:spcAft>
                <a:spcPts val="1019"/>
              </a:spcAft>
              <a:defRPr sz="1700">
                <a:solidFill>
                  <a:srgbClr val="2C3E50"/>
                </a:solidFill>
                <a:latin typeface="Meiryo UI"/>
              </a:defRPr>
            </a:pPr>
            <a:r>
              <a:t>▪  1日の取引高：約7.5兆ドル（2022年BIS調査）── 世界最大の金融市場</a:t>
            </a:r>
          </a:p>
          <a:p>
            <a:pPr>
              <a:spcAft>
                <a:spcPts val="1019"/>
              </a:spcAft>
              <a:defRPr sz="1700">
                <a:solidFill>
                  <a:srgbClr val="2C3E50"/>
                </a:solidFill>
                <a:latin typeface="Meiryo UI"/>
              </a:defRPr>
            </a:pPr>
            <a:r>
              <a:t>▪  中央集権的な取引所がない → OTC（相対取引）市場</a:t>
            </a:r>
          </a:p>
          <a:p>
            <a:pPr>
              <a:spcAft>
                <a:spcPts val="1019"/>
              </a:spcAft>
              <a:defRPr sz="1700">
                <a:solidFill>
                  <a:srgbClr val="2C3E50"/>
                </a:solidFill>
                <a:latin typeface="Meiryo UI"/>
              </a:defRPr>
            </a:pPr>
            <a:r>
              <a:t>▪  24時間取引：東京→ロンドン→ニューヨーク→シドニーのリレー</a:t>
            </a:r>
          </a:p>
          <a:p>
            <a:pPr>
              <a:spcAft>
                <a:spcPts val="1019"/>
              </a:spcAft>
              <a:defRPr sz="1700">
                <a:solidFill>
                  <a:srgbClr val="2C3E50"/>
                </a:solidFill>
                <a:latin typeface="Meiryo UI"/>
              </a:defRPr>
            </a:pPr>
            <a:r>
              <a:t>▪  主要通貨ペア：EUR/USD, USD/JPY, GBP/USD, AUD/USD, USD/CHF</a:t>
            </a:r>
          </a:p>
          <a:p>
            <a:pPr>
              <a:spcAft>
                <a:spcPts val="1019"/>
              </a:spcAft>
              <a:defRPr sz="1700">
                <a:solidFill>
                  <a:srgbClr val="2C3E50"/>
                </a:solidFill>
                <a:latin typeface="Meiryo UI"/>
              </a:defRPr>
            </a:pPr>
            <a:r>
              <a:t>▪  取引参加者：中央銀行、商業銀行、ヘッジファンド、個人トレーダー</a:t>
            </a:r>
          </a:p>
          <a:p>
            <a:pPr>
              <a:spcAft>
                <a:spcPts val="1019"/>
              </a:spcAft>
              <a:defRPr sz="1700">
                <a:solidFill>
                  <a:srgbClr val="2C3E50"/>
                </a:solidFill>
                <a:latin typeface="Meiryo UI"/>
              </a:defRPr>
            </a:pPr>
            <a:r>
              <a:t>▪  取引コストが低い（スプレッドが主なコスト）</a:t>
            </a:r>
          </a:p>
        </p:txBody>
      </p:sp>
      <p:sp>
        <p:nvSpPr>
          <p:cNvPr id="6" name="Rectangle 5"/>
          <p:cNvSpPr/>
          <p:nvPr/>
        </p:nvSpPr>
        <p:spPr>
          <a:xfrm>
            <a:off x="731520" y="4937760"/>
            <a:ext cx="54864"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 y="4937760"/>
            <a:ext cx="10460736"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defRPr sz="1400">
                <a:solidFill>
                  <a:srgbClr val="2C3E50"/>
                </a:solidFill>
                <a:latin typeface="Meiryo UI"/>
              </a:defRPr>
            </a:pPr>
            <a:r>
              <a:t>POINT：FX市場の巨大な流動性は、個人トレーダーにとって参入障壁の低さと約定力の高さというメリットをもたらす。</a:t>
            </a:r>
          </a:p>
        </p:txBody>
      </p:sp>
      <p:sp>
        <p:nvSpPr>
          <p:cNvPr id="8" name="Rectangle 7"/>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9" name="Rectangle 8"/>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株式市場</a:t>
            </a:r>
          </a:p>
        </p:txBody>
      </p:sp>
      <p:sp>
        <p:nvSpPr>
          <p:cNvPr id="5" name="TextBox 4"/>
          <p:cNvSpPr txBox="1"/>
          <p:nvPr/>
        </p:nvSpPr>
        <p:spPr>
          <a:xfrm>
            <a:off x="731520" y="1188720"/>
            <a:ext cx="10515600" cy="4754880"/>
          </a:xfrm>
          <a:prstGeom prst="rect">
            <a:avLst/>
          </a:prstGeom>
          <a:noFill/>
        </p:spPr>
        <p:txBody>
          <a:bodyPr wrap="square">
            <a:spAutoFit/>
          </a:bodyPr>
          <a:lstStyle/>
          <a:p>
            <a:pPr>
              <a:spcAft>
                <a:spcPts val="1019"/>
              </a:spcAft>
              <a:defRPr sz="1700">
                <a:solidFill>
                  <a:srgbClr val="2C3E50"/>
                </a:solidFill>
                <a:latin typeface="Meiryo UI"/>
              </a:defRPr>
            </a:pPr>
            <a:r>
              <a:t>▪  企業が資金調達のために株式を発行（IPO＝新規株式公開）</a:t>
            </a:r>
          </a:p>
          <a:p>
            <a:pPr>
              <a:spcAft>
                <a:spcPts val="1019"/>
              </a:spcAft>
              <a:defRPr sz="1700">
                <a:solidFill>
                  <a:srgbClr val="2C3E50"/>
                </a:solidFill>
                <a:latin typeface="Meiryo UI"/>
              </a:defRPr>
            </a:pPr>
            <a:r>
              <a:t>▪  取引所で売買（NYSE、NASDAQ、東証、ロンドン証券取引所など）</a:t>
            </a:r>
          </a:p>
          <a:p>
            <a:pPr>
              <a:spcAft>
                <a:spcPts val="1019"/>
              </a:spcAft>
              <a:defRPr sz="1700">
                <a:solidFill>
                  <a:srgbClr val="2C3E50"/>
                </a:solidFill>
                <a:latin typeface="Meiryo UI"/>
              </a:defRPr>
            </a:pPr>
            <a:r>
              <a:t>▪  取引時間が決まっている（日本：9:00-15:30、米国：9:30-16:00 EST）</a:t>
            </a:r>
          </a:p>
          <a:p>
            <a:pPr>
              <a:spcAft>
                <a:spcPts val="1019"/>
              </a:spcAft>
              <a:defRPr sz="1700">
                <a:solidFill>
                  <a:srgbClr val="2C3E50"/>
                </a:solidFill>
                <a:latin typeface="Meiryo UI"/>
              </a:defRPr>
            </a:pPr>
            <a:r>
              <a:t>▪  株価 ＝ 企業の将来価値に対する市場の評価</a:t>
            </a:r>
          </a:p>
          <a:p>
            <a:pPr>
              <a:spcAft>
                <a:spcPts val="1019"/>
              </a:spcAft>
              <a:defRPr sz="1700">
                <a:solidFill>
                  <a:srgbClr val="2C3E50"/>
                </a:solidFill>
                <a:latin typeface="Meiryo UI"/>
              </a:defRPr>
            </a:pPr>
            <a:r>
              <a:t>▪  リターンの源泉：配当（インカム）＋ 値上がり益（キャピタル）</a:t>
            </a:r>
          </a:p>
          <a:p>
            <a:pPr>
              <a:spcAft>
                <a:spcPts val="1019"/>
              </a:spcAft>
              <a:defRPr sz="1700">
                <a:solidFill>
                  <a:srgbClr val="2C3E50"/>
                </a:solidFill>
                <a:latin typeface="Meiryo UI"/>
              </a:defRPr>
            </a:pPr>
            <a:r>
              <a:t>▪  個別銘柄リスクが高い → 分散投資の概念が重要</a:t>
            </a:r>
          </a:p>
        </p:txBody>
      </p:sp>
      <p:sp>
        <p:nvSpPr>
          <p:cNvPr id="6" name="Rectangle 5"/>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7" name="Rectangle 6"/>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債券市場</a:t>
            </a:r>
          </a:p>
        </p:txBody>
      </p:sp>
      <p:sp>
        <p:nvSpPr>
          <p:cNvPr id="5" name="TextBox 4"/>
          <p:cNvSpPr txBox="1"/>
          <p:nvPr/>
        </p:nvSpPr>
        <p:spPr>
          <a:xfrm>
            <a:off x="731520" y="1188720"/>
            <a:ext cx="10515600" cy="3474720"/>
          </a:xfrm>
          <a:prstGeom prst="rect">
            <a:avLst/>
          </a:prstGeom>
          <a:noFill/>
        </p:spPr>
        <p:txBody>
          <a:bodyPr wrap="square">
            <a:spAutoFit/>
          </a:bodyPr>
          <a:lstStyle/>
          <a:p>
            <a:pPr>
              <a:spcAft>
                <a:spcPts val="1019"/>
              </a:spcAft>
              <a:defRPr sz="1700">
                <a:solidFill>
                  <a:srgbClr val="2C3E50"/>
                </a:solidFill>
                <a:latin typeface="Meiryo UI"/>
              </a:defRPr>
            </a:pPr>
            <a:r>
              <a:t>▪  債券 ＝ 発行体（国・企業等）がお金を借りた証明書</a:t>
            </a:r>
          </a:p>
          <a:p>
            <a:pPr>
              <a:spcAft>
                <a:spcPts val="1019"/>
              </a:spcAft>
              <a:defRPr sz="1700">
                <a:solidFill>
                  <a:srgbClr val="2C3E50"/>
                </a:solidFill>
                <a:latin typeface="Meiryo UI"/>
              </a:defRPr>
            </a:pPr>
            <a:r>
              <a:t>▪  種類：国債、社債、地方債、政府機関債</a:t>
            </a:r>
          </a:p>
          <a:p>
            <a:pPr>
              <a:spcAft>
                <a:spcPts val="1019"/>
              </a:spcAft>
              <a:defRPr sz="1700">
                <a:solidFill>
                  <a:srgbClr val="2C3E50"/>
                </a:solidFill>
                <a:latin typeface="Meiryo UI"/>
              </a:defRPr>
            </a:pPr>
            <a:r>
              <a:t>▪  利回り（イールド）＝ 債券から得られる実質的なリターン</a:t>
            </a:r>
          </a:p>
          <a:p>
            <a:pPr>
              <a:spcAft>
                <a:spcPts val="1019"/>
              </a:spcAft>
              <a:defRPr sz="1700">
                <a:solidFill>
                  <a:srgbClr val="2C3E50"/>
                </a:solidFill>
                <a:latin typeface="Meiryo UI"/>
              </a:defRPr>
            </a:pPr>
            <a:r>
              <a:t>▪  債券価格と利回りは逆相関（シーソーの関係）</a:t>
            </a:r>
          </a:p>
          <a:p>
            <a:pPr>
              <a:spcAft>
                <a:spcPts val="1019"/>
              </a:spcAft>
              <a:defRPr sz="1700">
                <a:solidFill>
                  <a:srgbClr val="2C3E50"/>
                </a:solidFill>
                <a:latin typeface="Meiryo UI"/>
              </a:defRPr>
            </a:pPr>
            <a:r>
              <a:t>▪  国債利回りはあらゆる金利のベンチマークとなる</a:t>
            </a:r>
          </a:p>
          <a:p>
            <a:pPr>
              <a:spcAft>
                <a:spcPts val="1019"/>
              </a:spcAft>
              <a:defRPr sz="1700">
                <a:solidFill>
                  <a:srgbClr val="2C3E50"/>
                </a:solidFill>
                <a:latin typeface="Meiryo UI"/>
              </a:defRPr>
            </a:pPr>
            <a:r>
              <a:t>▪  FXトレーダーにとって：2国間の金利差が通貨の方向性を決定する要因</a:t>
            </a:r>
          </a:p>
        </p:txBody>
      </p:sp>
      <p:sp>
        <p:nvSpPr>
          <p:cNvPr id="6" name="Rectangle 5"/>
          <p:cNvSpPr/>
          <p:nvPr/>
        </p:nvSpPr>
        <p:spPr>
          <a:xfrm>
            <a:off x="731520" y="4937760"/>
            <a:ext cx="54864"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 y="4937760"/>
            <a:ext cx="10460736"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defRPr sz="1400">
                <a:solidFill>
                  <a:srgbClr val="2C3E50"/>
                </a:solidFill>
                <a:latin typeface="Meiryo UI"/>
              </a:defRPr>
            </a:pPr>
            <a:r>
              <a:t>POINT：債券市場（特に国債利回り）は金利動向を反映し、FX・株式市場に直接影響する。金利は全市場を動かす最も基本的なファクター。</a:t>
            </a:r>
          </a:p>
        </p:txBody>
      </p:sp>
      <p:sp>
        <p:nvSpPr>
          <p:cNvPr id="8" name="Rectangle 7"/>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9" name="Rectangle 8"/>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商品（コモディティ）市場</a:t>
            </a:r>
          </a:p>
        </p:txBody>
      </p:sp>
      <p:sp>
        <p:nvSpPr>
          <p:cNvPr id="5" name="TextBox 4"/>
          <p:cNvSpPr txBox="1"/>
          <p:nvPr/>
        </p:nvSpPr>
        <p:spPr>
          <a:xfrm>
            <a:off x="731520" y="1188720"/>
            <a:ext cx="10515600" cy="4754880"/>
          </a:xfrm>
          <a:prstGeom prst="rect">
            <a:avLst/>
          </a:prstGeom>
          <a:noFill/>
        </p:spPr>
        <p:txBody>
          <a:bodyPr wrap="square">
            <a:spAutoFit/>
          </a:bodyPr>
          <a:lstStyle/>
          <a:p>
            <a:pPr>
              <a:spcAft>
                <a:spcPts val="1019"/>
              </a:spcAft>
              <a:defRPr sz="1700">
                <a:solidFill>
                  <a:srgbClr val="2C3E50"/>
                </a:solidFill>
                <a:latin typeface="Meiryo UI"/>
              </a:defRPr>
            </a:pPr>
            <a:r>
              <a:t>▪  ハードコモディティ：金、銀、プラチナ、原油、天然ガス、銅</a:t>
            </a:r>
          </a:p>
          <a:p>
            <a:pPr>
              <a:spcAft>
                <a:spcPts val="1019"/>
              </a:spcAft>
              <a:defRPr sz="1700">
                <a:solidFill>
                  <a:srgbClr val="2C3E50"/>
                </a:solidFill>
                <a:latin typeface="Meiryo UI"/>
              </a:defRPr>
            </a:pPr>
            <a:r>
              <a:t>▪  ソフトコモディティ：小麦、コーヒー、砂糖、大豆、コットン</a:t>
            </a:r>
          </a:p>
          <a:p>
            <a:pPr>
              <a:spcAft>
                <a:spcPts val="1019"/>
              </a:spcAft>
              <a:defRPr sz="1700">
                <a:solidFill>
                  <a:srgbClr val="2C3E50"/>
                </a:solidFill>
                <a:latin typeface="Meiryo UI"/>
              </a:defRPr>
            </a:pPr>
            <a:r>
              <a:t>▪  実需（メーカー・農家のヘッジ）と投機（トレーダー）が共存</a:t>
            </a:r>
          </a:p>
          <a:p>
            <a:pPr>
              <a:spcAft>
                <a:spcPts val="1019"/>
              </a:spcAft>
              <a:defRPr sz="1700">
                <a:solidFill>
                  <a:srgbClr val="2C3E50"/>
                </a:solidFill>
                <a:latin typeface="Meiryo UI"/>
              </a:defRPr>
            </a:pPr>
            <a:r>
              <a:t>▪  インフレ指標としての重要性（特に原油・金）</a:t>
            </a:r>
          </a:p>
          <a:p>
            <a:pPr>
              <a:spcAft>
                <a:spcPts val="1019"/>
              </a:spcAft>
              <a:defRPr sz="1700">
                <a:solidFill>
                  <a:srgbClr val="2C3E50"/>
                </a:solidFill>
                <a:latin typeface="Meiryo UI"/>
              </a:defRPr>
            </a:pPr>
            <a:r>
              <a:t>▪  通貨との相関：AUD←→鉄鉱石、CAD←→原油、NZD←→乳製品</a:t>
            </a:r>
          </a:p>
          <a:p>
            <a:pPr>
              <a:spcAft>
                <a:spcPts val="1019"/>
              </a:spcAft>
              <a:defRPr sz="1700">
                <a:solidFill>
                  <a:srgbClr val="2C3E50"/>
                </a:solidFill>
                <a:latin typeface="Meiryo UI"/>
              </a:defRPr>
            </a:pPr>
            <a:r>
              <a:t>▪  地政学リスクの影響を受けやすい（原油・金）</a:t>
            </a:r>
          </a:p>
        </p:txBody>
      </p:sp>
      <p:sp>
        <p:nvSpPr>
          <p:cNvPr id="6" name="Rectangle 5"/>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7" name="Rectangle 6"/>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暗号資産（クリプト）市場</a:t>
            </a:r>
          </a:p>
        </p:txBody>
      </p:sp>
      <p:sp>
        <p:nvSpPr>
          <p:cNvPr id="5" name="TextBox 4"/>
          <p:cNvSpPr txBox="1"/>
          <p:nvPr/>
        </p:nvSpPr>
        <p:spPr>
          <a:xfrm>
            <a:off x="731520" y="1188720"/>
            <a:ext cx="10515600" cy="4754880"/>
          </a:xfrm>
          <a:prstGeom prst="rect">
            <a:avLst/>
          </a:prstGeom>
          <a:noFill/>
        </p:spPr>
        <p:txBody>
          <a:bodyPr wrap="square">
            <a:spAutoFit/>
          </a:bodyPr>
          <a:lstStyle/>
          <a:p>
            <a:pPr>
              <a:spcAft>
                <a:spcPts val="1019"/>
              </a:spcAft>
              <a:defRPr sz="1700">
                <a:solidFill>
                  <a:srgbClr val="2C3E50"/>
                </a:solidFill>
                <a:latin typeface="Meiryo UI"/>
              </a:defRPr>
            </a:pPr>
            <a:r>
              <a:t>▪  ブロックチェーン技術に基づくデジタル資産</a:t>
            </a:r>
          </a:p>
          <a:p>
            <a:pPr>
              <a:spcAft>
                <a:spcPts val="1019"/>
              </a:spcAft>
              <a:defRPr sz="1700">
                <a:solidFill>
                  <a:srgbClr val="2C3E50"/>
                </a:solidFill>
                <a:latin typeface="Meiryo UI"/>
              </a:defRPr>
            </a:pPr>
            <a:r>
              <a:t>▪  24時間365日取引可能（休みなし）</a:t>
            </a:r>
          </a:p>
          <a:p>
            <a:pPr>
              <a:spcAft>
                <a:spcPts val="1019"/>
              </a:spcAft>
              <a:defRPr sz="1700">
                <a:solidFill>
                  <a:srgbClr val="2C3E50"/>
                </a:solidFill>
                <a:latin typeface="Meiryo UI"/>
              </a:defRPr>
            </a:pPr>
            <a:r>
              <a:t>▪  CEX（中央集権型取引所：Binance等）とDEX（分散型取引所）</a:t>
            </a:r>
          </a:p>
          <a:p>
            <a:pPr>
              <a:spcAft>
                <a:spcPts val="1019"/>
              </a:spcAft>
              <a:defRPr sz="1700">
                <a:solidFill>
                  <a:srgbClr val="2C3E50"/>
                </a:solidFill>
                <a:latin typeface="Meiryo UI"/>
              </a:defRPr>
            </a:pPr>
            <a:r>
              <a:t>▪  主要資産：Bitcoin（BTC）、Ethereum（ETH）、ステーブルコイン</a:t>
            </a:r>
          </a:p>
          <a:p>
            <a:pPr>
              <a:spcAft>
                <a:spcPts val="1019"/>
              </a:spcAft>
              <a:defRPr sz="1700">
                <a:solidFill>
                  <a:srgbClr val="2C3E50"/>
                </a:solidFill>
                <a:latin typeface="Meiryo UI"/>
              </a:defRPr>
            </a:pPr>
            <a:r>
              <a:t>▪  ボラティリティが伝統的資産に比べ非常に高い</a:t>
            </a:r>
          </a:p>
          <a:p>
            <a:pPr>
              <a:spcAft>
                <a:spcPts val="1019"/>
              </a:spcAft>
              <a:defRPr sz="1700">
                <a:solidFill>
                  <a:srgbClr val="2C3E50"/>
                </a:solidFill>
                <a:latin typeface="Meiryo UI"/>
              </a:defRPr>
            </a:pPr>
            <a:r>
              <a:t>▪  規制環境が各国で異なり、発展途上</a:t>
            </a:r>
          </a:p>
        </p:txBody>
      </p:sp>
      <p:sp>
        <p:nvSpPr>
          <p:cNvPr id="6" name="Rectangle 5"/>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7" name="Rectangle 6"/>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デリバティブ市場</a:t>
            </a:r>
          </a:p>
        </p:txBody>
      </p:sp>
      <p:sp>
        <p:nvSpPr>
          <p:cNvPr id="5" name="TextBox 4"/>
          <p:cNvSpPr txBox="1"/>
          <p:nvPr/>
        </p:nvSpPr>
        <p:spPr>
          <a:xfrm>
            <a:off x="731520" y="1188720"/>
            <a:ext cx="10515600" cy="3474720"/>
          </a:xfrm>
          <a:prstGeom prst="rect">
            <a:avLst/>
          </a:prstGeom>
          <a:noFill/>
        </p:spPr>
        <p:txBody>
          <a:bodyPr wrap="square">
            <a:spAutoFit/>
          </a:bodyPr>
          <a:lstStyle/>
          <a:p>
            <a:pPr>
              <a:spcAft>
                <a:spcPts val="1019"/>
              </a:spcAft>
              <a:defRPr sz="1700">
                <a:solidFill>
                  <a:srgbClr val="2C3E50"/>
                </a:solidFill>
                <a:latin typeface="Meiryo UI"/>
              </a:defRPr>
            </a:pPr>
            <a:r>
              <a:t>▪  デリバティブ ＝ 原資産から派生した金融商品</a:t>
            </a:r>
          </a:p>
          <a:p>
            <a:pPr>
              <a:spcAft>
                <a:spcPts val="1019"/>
              </a:spcAft>
              <a:defRPr sz="1700">
                <a:solidFill>
                  <a:srgbClr val="2C3E50"/>
                </a:solidFill>
                <a:latin typeface="Meiryo UI"/>
              </a:defRPr>
            </a:pPr>
            <a:r>
              <a:t>▪  先物（Futures）── 将来の一定日に一定価格で売買する契約</a:t>
            </a:r>
          </a:p>
          <a:p>
            <a:pPr>
              <a:spcAft>
                <a:spcPts val="1019"/>
              </a:spcAft>
              <a:defRPr sz="1700">
                <a:solidFill>
                  <a:srgbClr val="2C3E50"/>
                </a:solidFill>
                <a:latin typeface="Meiryo UI"/>
              </a:defRPr>
            </a:pPr>
            <a:r>
              <a:t>▪  オプション（Options）── 将来の一定日に売買する「権利」</a:t>
            </a:r>
          </a:p>
          <a:p>
            <a:pPr>
              <a:spcAft>
                <a:spcPts val="1019"/>
              </a:spcAft>
              <a:defRPr sz="1700">
                <a:solidFill>
                  <a:srgbClr val="2C3E50"/>
                </a:solidFill>
                <a:latin typeface="Meiryo UI"/>
              </a:defRPr>
            </a:pPr>
            <a:r>
              <a:t>▪  CFD（差金決済取引）── 原資産を保有せず価格差で損益が確定</a:t>
            </a:r>
          </a:p>
          <a:p>
            <a:pPr>
              <a:spcAft>
                <a:spcPts val="1019"/>
              </a:spcAft>
              <a:defRPr sz="1700">
                <a:solidFill>
                  <a:srgbClr val="2C3E50"/>
                </a:solidFill>
                <a:latin typeface="Meiryo UI"/>
              </a:defRPr>
            </a:pPr>
            <a:r>
              <a:t>▪  スワップ ── 金利や通貨のキャッシュフローを交換</a:t>
            </a:r>
          </a:p>
          <a:p>
            <a:pPr>
              <a:spcAft>
                <a:spcPts val="1019"/>
              </a:spcAft>
              <a:defRPr sz="1700">
                <a:solidFill>
                  <a:srgbClr val="2C3E50"/>
                </a:solidFill>
                <a:latin typeface="Meiryo UI"/>
              </a:defRPr>
            </a:pPr>
            <a:r>
              <a:t>▪  用途：ヘッジ（リスク回避）、投機、アービトラージ</a:t>
            </a:r>
          </a:p>
        </p:txBody>
      </p:sp>
      <p:sp>
        <p:nvSpPr>
          <p:cNvPr id="6" name="Rectangle 5"/>
          <p:cNvSpPr/>
          <p:nvPr/>
        </p:nvSpPr>
        <p:spPr>
          <a:xfrm>
            <a:off x="731520" y="4937760"/>
            <a:ext cx="54864"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 y="4937760"/>
            <a:ext cx="10460736"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defRPr sz="1400">
                <a:solidFill>
                  <a:srgbClr val="2C3E50"/>
                </a:solidFill>
                <a:latin typeface="Meiryo UI"/>
              </a:defRPr>
            </a:pPr>
            <a:r>
              <a:t>POINT：個人トレーダーが取引するFXの多くは実質的にCFDの一種。デリバティブの基本概念を理解しておくことは重要。</a:t>
            </a:r>
          </a:p>
        </p:txBody>
      </p:sp>
      <p:sp>
        <p:nvSpPr>
          <p:cNvPr id="8" name="Rectangle 7"/>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9" name="Rectangle 8"/>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まとめ</a:t>
            </a:r>
          </a:p>
        </p:txBody>
      </p:sp>
      <p:sp>
        <p:nvSpPr>
          <p:cNvPr id="5" name="Rounded Rectangle 4"/>
          <p:cNvSpPr/>
          <p:nvPr/>
        </p:nvSpPr>
        <p:spPr>
          <a:xfrm>
            <a:off x="457200" y="118872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FX</a:t>
            </a:r>
          </a:p>
        </p:txBody>
      </p:sp>
      <p:sp>
        <p:nvSpPr>
          <p:cNvPr id="6" name="TextBox 5"/>
          <p:cNvSpPr txBox="1"/>
          <p:nvPr/>
        </p:nvSpPr>
        <p:spPr>
          <a:xfrm>
            <a:off x="3200400" y="1216152"/>
            <a:ext cx="8503920" cy="411480"/>
          </a:xfrm>
          <a:prstGeom prst="rect">
            <a:avLst/>
          </a:prstGeom>
          <a:noFill/>
        </p:spPr>
        <p:txBody>
          <a:bodyPr wrap="square">
            <a:spAutoFit/>
          </a:bodyPr>
          <a:lstStyle/>
          <a:p>
            <a:pPr algn="l">
              <a:defRPr sz="1400" b="0">
                <a:solidFill>
                  <a:srgbClr val="2C3E50"/>
                </a:solidFill>
                <a:latin typeface="Meiryo UI"/>
              </a:defRPr>
            </a:pPr>
            <a:r>
              <a:t>世界最大、24時間OTC、低コスト</a:t>
            </a:r>
          </a:p>
        </p:txBody>
      </p:sp>
      <p:sp>
        <p:nvSpPr>
          <p:cNvPr id="7" name="Rounded Rectangle 6"/>
          <p:cNvSpPr/>
          <p:nvPr/>
        </p:nvSpPr>
        <p:spPr>
          <a:xfrm>
            <a:off x="457200" y="173736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株式</a:t>
            </a:r>
          </a:p>
        </p:txBody>
      </p:sp>
      <p:sp>
        <p:nvSpPr>
          <p:cNvPr id="8" name="TextBox 7"/>
          <p:cNvSpPr txBox="1"/>
          <p:nvPr/>
        </p:nvSpPr>
        <p:spPr>
          <a:xfrm>
            <a:off x="3200400" y="1764792"/>
            <a:ext cx="8503920" cy="411480"/>
          </a:xfrm>
          <a:prstGeom prst="rect">
            <a:avLst/>
          </a:prstGeom>
          <a:noFill/>
        </p:spPr>
        <p:txBody>
          <a:bodyPr wrap="square">
            <a:spAutoFit/>
          </a:bodyPr>
          <a:lstStyle/>
          <a:p>
            <a:pPr algn="l">
              <a:defRPr sz="1400" b="0">
                <a:solidFill>
                  <a:srgbClr val="2C3E50"/>
                </a:solidFill>
                <a:latin typeface="Meiryo UI"/>
              </a:defRPr>
            </a:pPr>
            <a:r>
              <a:t>取引所ベース、企業価値への投資</a:t>
            </a:r>
          </a:p>
        </p:txBody>
      </p:sp>
      <p:sp>
        <p:nvSpPr>
          <p:cNvPr id="9" name="Rounded Rectangle 8"/>
          <p:cNvSpPr/>
          <p:nvPr/>
        </p:nvSpPr>
        <p:spPr>
          <a:xfrm>
            <a:off x="457200" y="228600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債券</a:t>
            </a:r>
          </a:p>
        </p:txBody>
      </p:sp>
      <p:sp>
        <p:nvSpPr>
          <p:cNvPr id="10" name="TextBox 9"/>
          <p:cNvSpPr txBox="1"/>
          <p:nvPr/>
        </p:nvSpPr>
        <p:spPr>
          <a:xfrm>
            <a:off x="3200400" y="2313432"/>
            <a:ext cx="8503920" cy="411480"/>
          </a:xfrm>
          <a:prstGeom prst="rect">
            <a:avLst/>
          </a:prstGeom>
          <a:noFill/>
        </p:spPr>
        <p:txBody>
          <a:bodyPr wrap="square">
            <a:spAutoFit/>
          </a:bodyPr>
          <a:lstStyle/>
          <a:p>
            <a:pPr algn="l">
              <a:defRPr sz="1400" b="0">
                <a:solidFill>
                  <a:srgbClr val="2C3E50"/>
                </a:solidFill>
                <a:latin typeface="Meiryo UI"/>
              </a:defRPr>
            </a:pPr>
            <a:r>
              <a:t>金利のベンチマーク、全市場に影響</a:t>
            </a:r>
          </a:p>
        </p:txBody>
      </p:sp>
      <p:sp>
        <p:nvSpPr>
          <p:cNvPr id="11" name="Rounded Rectangle 10"/>
          <p:cNvSpPr/>
          <p:nvPr/>
        </p:nvSpPr>
        <p:spPr>
          <a:xfrm>
            <a:off x="457200" y="283464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商品</a:t>
            </a:r>
          </a:p>
        </p:txBody>
      </p:sp>
      <p:sp>
        <p:nvSpPr>
          <p:cNvPr id="12" name="TextBox 11"/>
          <p:cNvSpPr txBox="1"/>
          <p:nvPr/>
        </p:nvSpPr>
        <p:spPr>
          <a:xfrm>
            <a:off x="3200400" y="2862072"/>
            <a:ext cx="8503920" cy="411480"/>
          </a:xfrm>
          <a:prstGeom prst="rect">
            <a:avLst/>
          </a:prstGeom>
          <a:noFill/>
        </p:spPr>
        <p:txBody>
          <a:bodyPr wrap="square">
            <a:spAutoFit/>
          </a:bodyPr>
          <a:lstStyle/>
          <a:p>
            <a:pPr algn="l">
              <a:defRPr sz="1400" b="0">
                <a:solidFill>
                  <a:srgbClr val="2C3E50"/>
                </a:solidFill>
                <a:latin typeface="Meiryo UI"/>
              </a:defRPr>
            </a:pPr>
            <a:r>
              <a:t>実需と投機、インフレ・地政学に敏感</a:t>
            </a:r>
          </a:p>
        </p:txBody>
      </p:sp>
      <p:sp>
        <p:nvSpPr>
          <p:cNvPr id="13" name="Rounded Rectangle 12"/>
          <p:cNvSpPr/>
          <p:nvPr/>
        </p:nvSpPr>
        <p:spPr>
          <a:xfrm>
            <a:off x="457200" y="338328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暗号資産</a:t>
            </a:r>
          </a:p>
        </p:txBody>
      </p:sp>
      <p:sp>
        <p:nvSpPr>
          <p:cNvPr id="14" name="TextBox 13"/>
          <p:cNvSpPr txBox="1"/>
          <p:nvPr/>
        </p:nvSpPr>
        <p:spPr>
          <a:xfrm>
            <a:off x="3200400" y="3410712"/>
            <a:ext cx="8503920" cy="411480"/>
          </a:xfrm>
          <a:prstGeom prst="rect">
            <a:avLst/>
          </a:prstGeom>
          <a:noFill/>
        </p:spPr>
        <p:txBody>
          <a:bodyPr wrap="square">
            <a:spAutoFit/>
          </a:bodyPr>
          <a:lstStyle/>
          <a:p>
            <a:pPr algn="l">
              <a:defRPr sz="1400" b="0">
                <a:solidFill>
                  <a:srgbClr val="2C3E50"/>
                </a:solidFill>
                <a:latin typeface="Meiryo UI"/>
              </a:defRPr>
            </a:pPr>
            <a:r>
              <a:t>24/7、高ボラ、規制発展途上</a:t>
            </a:r>
          </a:p>
        </p:txBody>
      </p:sp>
      <p:sp>
        <p:nvSpPr>
          <p:cNvPr id="15" name="Rounded Rectangle 14"/>
          <p:cNvSpPr/>
          <p:nvPr/>
        </p:nvSpPr>
        <p:spPr>
          <a:xfrm>
            <a:off x="457200" y="393192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デリバティブ</a:t>
            </a:r>
          </a:p>
        </p:txBody>
      </p:sp>
      <p:sp>
        <p:nvSpPr>
          <p:cNvPr id="16" name="TextBox 15"/>
          <p:cNvSpPr txBox="1"/>
          <p:nvPr/>
        </p:nvSpPr>
        <p:spPr>
          <a:xfrm>
            <a:off x="3200400" y="3959352"/>
            <a:ext cx="8503920" cy="411480"/>
          </a:xfrm>
          <a:prstGeom prst="rect">
            <a:avLst/>
          </a:prstGeom>
          <a:noFill/>
        </p:spPr>
        <p:txBody>
          <a:bodyPr wrap="square">
            <a:spAutoFit/>
          </a:bodyPr>
          <a:lstStyle/>
          <a:p>
            <a:pPr algn="l">
              <a:defRPr sz="1400" b="0">
                <a:solidFill>
                  <a:srgbClr val="2C3E50"/>
                </a:solidFill>
                <a:latin typeface="Meiryo UI"/>
              </a:defRPr>
            </a:pPr>
            <a:r>
              <a:t>先物・オプション・CFD、レバレッジ取引</a:t>
            </a:r>
          </a:p>
        </p:txBody>
      </p:sp>
      <p:sp>
        <p:nvSpPr>
          <p:cNvPr id="17" name="Rectangle 16"/>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金融市場の種類    |    URIKAI Trading Academy</a:t>
            </a:r>
          </a:p>
        </p:txBody>
      </p:sp>
      <p:sp>
        <p:nvSpPr>
          <p:cNvPr id="18" name="Rectangle 17"/>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560320"/>
            <a:ext cx="10058400" cy="731520"/>
          </a:xfrm>
          <a:prstGeom prst="rect">
            <a:avLst/>
          </a:prstGeom>
          <a:noFill/>
        </p:spPr>
        <p:txBody>
          <a:bodyPr wrap="square">
            <a:spAutoFit/>
          </a:bodyPr>
          <a:lstStyle/>
          <a:p>
            <a:pPr algn="ctr">
              <a:defRPr sz="3600" b="1">
                <a:solidFill>
                  <a:srgbClr val="D4A537"/>
                </a:solidFill>
                <a:latin typeface="Meiryo UI"/>
              </a:defRPr>
            </a:pPr>
            <a:r>
              <a:t>End of Section</a:t>
            </a:r>
          </a:p>
        </p:txBody>
      </p:sp>
      <p:sp>
        <p:nvSpPr>
          <p:cNvPr id="3" name="TextBox 2"/>
          <p:cNvSpPr txBox="1"/>
          <p:nvPr/>
        </p:nvSpPr>
        <p:spPr>
          <a:xfrm>
            <a:off x="914400" y="3474720"/>
            <a:ext cx="10058400" cy="731520"/>
          </a:xfrm>
          <a:prstGeom prst="rect">
            <a:avLst/>
          </a:prstGeom>
          <a:noFill/>
        </p:spPr>
        <p:txBody>
          <a:bodyPr wrap="square">
            <a:spAutoFit/>
          </a:bodyPr>
          <a:lstStyle/>
          <a:p>
            <a:pPr algn="ctr">
              <a:defRPr sz="2000" b="0">
                <a:solidFill>
                  <a:srgbClr val="AEB6BF"/>
                </a:solidFill>
                <a:latin typeface="Meiryo UI"/>
              </a:defRPr>
            </a:pPr>
            <a:r>
              <a:t>Next → 市場参加者</a:t>
            </a:r>
          </a:p>
        </p:txBody>
      </p:sp>
      <p:sp>
        <p:nvSpPr>
          <p:cNvPr id="4" name="Rectangle 3"/>
          <p:cNvSpPr/>
          <p:nvPr/>
        </p:nvSpPr>
        <p:spPr>
          <a:xfrm>
            <a:off x="5029200" y="4572000"/>
            <a:ext cx="2103120"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937760"/>
            <a:ext cx="10058400" cy="457200"/>
          </a:xfrm>
          <a:prstGeom prst="rect">
            <a:avLst/>
          </a:prstGeom>
          <a:noFill/>
        </p:spPr>
        <p:txBody>
          <a:bodyPr wrap="square">
            <a:spAutoFit/>
          </a:bodyPr>
          <a:lstStyle/>
          <a:p>
            <a:pPr algn="ctr">
              <a:defRPr sz="1400" b="0">
                <a:solidFill>
                  <a:srgbClr val="AEB6BF"/>
                </a:solidFill>
                <a:latin typeface="Meiryo UI"/>
              </a:defRPr>
            </a:pPr>
            <a:r>
              <a:t>URIKAI Trading Academy</a:t>
            </a:r>
          </a:p>
        </p:txBody>
      </p:sp>
      <p:sp>
        <p:nvSpPr>
          <p:cNvPr id="6" name="Rectangle 5"/>
          <p:cNvSpPr/>
          <p:nvPr/>
        </p:nvSpPr>
        <p:spPr>
          <a:xfrm>
            <a:off x="0" y="6400800"/>
            <a:ext cx="12191695" cy="457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