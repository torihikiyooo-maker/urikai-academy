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457200"/>
          </a:xfrm>
          <a:prstGeom prst="rect">
            <a:avLst/>
          </a:prstGeom>
          <a:noFill/>
        </p:spPr>
        <p:txBody>
          <a:bodyPr wrap="square">
            <a:spAutoFit/>
          </a:bodyPr>
          <a:lstStyle/>
          <a:p>
            <a:pPr algn="ctr">
              <a:defRPr sz="1600" b="0">
                <a:solidFill>
                  <a:srgbClr val="D4A537"/>
                </a:solidFill>
                <a:latin typeface="Meiryo UI"/>
              </a:defRPr>
            </a:pPr>
            <a:r>
              <a:t>SECTION 16</a:t>
            </a:r>
          </a:p>
        </p:txBody>
      </p:sp>
      <p:sp>
        <p:nvSpPr>
          <p:cNvPr id="4" name="TextBox 3"/>
          <p:cNvSpPr txBox="1"/>
          <p:nvPr/>
        </p:nvSpPr>
        <p:spPr>
          <a:xfrm>
            <a:off x="914400" y="2286000"/>
            <a:ext cx="10058400" cy="1371600"/>
          </a:xfrm>
          <a:prstGeom prst="rect">
            <a:avLst/>
          </a:prstGeom>
          <a:noFill/>
        </p:spPr>
        <p:txBody>
          <a:bodyPr wrap="square">
            <a:spAutoFit/>
          </a:bodyPr>
          <a:lstStyle/>
          <a:p>
            <a:pPr algn="ctr">
              <a:defRPr sz="4800" b="1">
                <a:solidFill>
                  <a:srgbClr val="FFFFFF"/>
                </a:solidFill>
                <a:latin typeface="Meiryo UI"/>
              </a:defRPr>
            </a:pPr>
            <a:r>
              <a:t>ワイコフ理論</a:t>
            </a:r>
          </a:p>
        </p:txBody>
      </p:sp>
      <p:sp>
        <p:nvSpPr>
          <p:cNvPr id="5" name="TextBox 4"/>
          <p:cNvSpPr txBox="1"/>
          <p:nvPr/>
        </p:nvSpPr>
        <p:spPr>
          <a:xfrm>
            <a:off x="914400" y="3840480"/>
            <a:ext cx="10058400" cy="731520"/>
          </a:xfrm>
          <a:prstGeom prst="rect">
            <a:avLst/>
          </a:prstGeom>
          <a:noFill/>
        </p:spPr>
        <p:txBody>
          <a:bodyPr wrap="square">
            <a:spAutoFit/>
          </a:bodyPr>
          <a:lstStyle/>
          <a:p>
            <a:pPr algn="ctr">
              <a:defRPr sz="2000" b="0">
                <a:solidFill>
                  <a:srgbClr val="AEB6BF"/>
                </a:solidFill>
                <a:latin typeface="Meiryo UI"/>
              </a:defRPr>
            </a:pPr>
            <a:r>
              <a:t>Wyckoff Method ── 機関投資家の行動を読み解く</a:t>
            </a:r>
          </a:p>
        </p:txBody>
      </p:sp>
      <p:sp>
        <p:nvSpPr>
          <p:cNvPr id="6" name="Rectangle 5"/>
          <p:cNvSpPr/>
          <p:nvPr/>
        </p:nvSpPr>
        <p:spPr>
          <a:xfrm>
            <a:off x="5029200" y="4846320"/>
            <a:ext cx="2103120" cy="27432"/>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212080"/>
            <a:ext cx="10058400" cy="457200"/>
          </a:xfrm>
          <a:prstGeom prst="rect">
            <a:avLst/>
          </a:prstGeom>
          <a:noFill/>
        </p:spPr>
        <p:txBody>
          <a:bodyPr wrap="square">
            <a:spAutoFit/>
          </a:bodyPr>
          <a:lstStyle/>
          <a:p>
            <a:pPr algn="ctr">
              <a:defRPr sz="1400" b="0">
                <a:solidFill>
                  <a:srgbClr val="AEB6BF"/>
                </a:solidFill>
                <a:latin typeface="Meiryo UI"/>
              </a:defRPr>
            </a:pPr>
            <a:r>
              <a:t>URIKAI Trading Academy</a:t>
            </a:r>
          </a:p>
        </p:txBody>
      </p:sp>
      <p:sp>
        <p:nvSpPr>
          <p:cNvPr id="8" name="Rectangle 7"/>
          <p:cNvSpPr/>
          <p:nvPr/>
        </p:nvSpPr>
        <p:spPr>
          <a:xfrm>
            <a:off x="0" y="6400800"/>
            <a:ext cx="12191695" cy="4572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7"/>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058400" cy="594360"/>
          </a:xfrm>
          <a:prstGeom prst="rect">
            <a:avLst/>
          </a:prstGeom>
          <a:noFill/>
        </p:spPr>
        <p:txBody>
          <a:bodyPr wrap="square">
            <a:spAutoFit/>
          </a:bodyPr>
          <a:lstStyle/>
          <a:p>
            <a:pPr algn="l">
              <a:defRPr sz="2600" b="1">
                <a:solidFill>
                  <a:srgbClr val="FFFFFF"/>
                </a:solidFill>
                <a:latin typeface="Meiryo UI"/>
              </a:defRPr>
            </a:pPr>
            <a:r>
              <a:t>ワイコフ理論の概要</a:t>
            </a:r>
          </a:p>
        </p:txBody>
      </p:sp>
      <p:sp>
        <p:nvSpPr>
          <p:cNvPr id="5" name="TextBox 4"/>
          <p:cNvSpPr txBox="1"/>
          <p:nvPr/>
        </p:nvSpPr>
        <p:spPr>
          <a:xfrm>
            <a:off x="731520" y="1188720"/>
            <a:ext cx="10515600" cy="4754880"/>
          </a:xfrm>
          <a:prstGeom prst="rect">
            <a:avLst/>
          </a:prstGeom>
          <a:noFill/>
        </p:spPr>
        <p:txBody>
          <a:bodyPr wrap="square">
            <a:spAutoFit/>
          </a:bodyPr>
          <a:lstStyle/>
          <a:p>
            <a:pPr>
              <a:spcAft>
                <a:spcPts val="1019"/>
              </a:spcAft>
              <a:defRPr sz="1700">
                <a:solidFill>
                  <a:srgbClr val="2C3E50"/>
                </a:solidFill>
                <a:latin typeface="Meiryo UI"/>
              </a:defRPr>
            </a:pPr>
            <a:r>
              <a:t>▪  Richard D. Wyckoff（1873-1934）が開発した相場分析手法</a:t>
            </a:r>
          </a:p>
          <a:p>
            <a:pPr>
              <a:spcAft>
                <a:spcPts val="1019"/>
              </a:spcAft>
              <a:defRPr sz="1700">
                <a:solidFill>
                  <a:srgbClr val="2C3E50"/>
                </a:solidFill>
                <a:latin typeface="Meiryo UI"/>
              </a:defRPr>
            </a:pPr>
            <a:r>
              <a:t>▪  「市場は大口（スマートマネー）によって意図的に動かされている」という前提</a:t>
            </a:r>
          </a:p>
          <a:p>
            <a:pPr>
              <a:spcAft>
                <a:spcPts val="1019"/>
              </a:spcAft>
              <a:defRPr sz="1700">
                <a:solidFill>
                  <a:srgbClr val="2C3E50"/>
                </a:solidFill>
                <a:latin typeface="Meiryo UI"/>
              </a:defRPr>
            </a:pPr>
            <a:r>
              <a:t>▪  価格と出来高の関係性から大口の行動を推測する</a:t>
            </a:r>
          </a:p>
          <a:p>
            <a:pPr>
              <a:spcAft>
                <a:spcPts val="1019"/>
              </a:spcAft>
              <a:defRPr sz="1700">
                <a:solidFill>
                  <a:srgbClr val="2C3E50"/>
                </a:solidFill>
                <a:latin typeface="Meiryo UI"/>
              </a:defRPr>
            </a:pPr>
            <a:r>
              <a:t>▪  現代の機関投資家・ヘッジファンドの行動分析にも応用可能</a:t>
            </a:r>
          </a:p>
          <a:p>
            <a:pPr>
              <a:spcAft>
                <a:spcPts val="1019"/>
              </a:spcAft>
              <a:defRPr sz="1700">
                <a:solidFill>
                  <a:srgbClr val="2C3E50"/>
                </a:solidFill>
                <a:latin typeface="Meiryo UI"/>
              </a:defRPr>
            </a:pPr>
            <a:r>
              <a:t>▪  テクニカル分析の中でも最も実践的な需給分析フレームワーク</a:t>
            </a:r>
          </a:p>
        </p:txBody>
      </p:sp>
      <p:sp>
        <p:nvSpPr>
          <p:cNvPr id="6" name="Rectangle 5"/>
          <p:cNvSpPr/>
          <p:nvPr/>
        </p:nvSpPr>
        <p:spPr>
          <a:xfrm>
            <a:off x="0" y="6537960"/>
            <a:ext cx="12191695" cy="3200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lIns="304800"/>
          <a:lstStyle/>
          <a:p>
            <a:pPr algn="ctr">
              <a:defRPr sz="900">
                <a:solidFill>
                  <a:srgbClr val="AEB6BF"/>
                </a:solidFill>
                <a:latin typeface="Meiryo UI"/>
              </a:defRPr>
            </a:pPr>
            <a:r>
              <a:t>  ワイコフ理論    |    URIKAI Trading Academy</a:t>
            </a:r>
          </a:p>
        </p:txBody>
      </p:sp>
      <p:sp>
        <p:nvSpPr>
          <p:cNvPr id="7" name="Rectangle 6"/>
          <p:cNvSpPr/>
          <p:nvPr/>
        </p:nvSpPr>
        <p:spPr>
          <a:xfrm>
            <a:off x="0" y="6510528"/>
            <a:ext cx="12191695" cy="27432"/>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7"/>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058400" cy="594360"/>
          </a:xfrm>
          <a:prstGeom prst="rect">
            <a:avLst/>
          </a:prstGeom>
          <a:noFill/>
        </p:spPr>
        <p:txBody>
          <a:bodyPr wrap="square">
            <a:spAutoFit/>
          </a:bodyPr>
          <a:lstStyle/>
          <a:p>
            <a:pPr algn="l">
              <a:defRPr sz="2600" b="1">
                <a:solidFill>
                  <a:srgbClr val="FFFFFF"/>
                </a:solidFill>
                <a:latin typeface="Meiryo UI"/>
              </a:defRPr>
            </a:pPr>
            <a:r>
              <a:t>ワイコフの3つの法則</a:t>
            </a:r>
          </a:p>
        </p:txBody>
      </p:sp>
      <p:sp>
        <p:nvSpPr>
          <p:cNvPr id="5" name="TextBox 4"/>
          <p:cNvSpPr txBox="1"/>
          <p:nvPr/>
        </p:nvSpPr>
        <p:spPr>
          <a:xfrm>
            <a:off x="731520" y="1188720"/>
            <a:ext cx="10515600" cy="3474720"/>
          </a:xfrm>
          <a:prstGeom prst="rect">
            <a:avLst/>
          </a:prstGeom>
          <a:noFill/>
        </p:spPr>
        <p:txBody>
          <a:bodyPr wrap="square">
            <a:spAutoFit/>
          </a:bodyPr>
          <a:lstStyle/>
          <a:p>
            <a:pPr>
              <a:spcAft>
                <a:spcPts val="1019"/>
              </a:spcAft>
              <a:defRPr sz="1700">
                <a:solidFill>
                  <a:srgbClr val="2C3E50"/>
                </a:solidFill>
                <a:latin typeface="Meiryo UI"/>
              </a:defRPr>
            </a:pPr>
            <a:r>
              <a:t>▪  ①需要と供給の法則 ── 需要＞供給で上昇、供給＞需要で下落</a:t>
            </a:r>
          </a:p>
          <a:p>
            <a:pPr>
              <a:spcAft>
                <a:spcPts val="1019"/>
              </a:spcAft>
              <a:defRPr sz="1700">
                <a:solidFill>
                  <a:srgbClr val="2C3E50"/>
                </a:solidFill>
                <a:latin typeface="Meiryo UI"/>
              </a:defRPr>
            </a:pPr>
            <a:r>
              <a:t>▪  ②因果の法則 ── レンジ（原因）の大きさが、トレンド（結果）の大きさを決める</a:t>
            </a:r>
          </a:p>
          <a:p>
            <a:pPr>
              <a:spcAft>
                <a:spcPts val="1019"/>
              </a:spcAft>
              <a:defRPr sz="1700">
                <a:solidFill>
                  <a:srgbClr val="2C3E50"/>
                </a:solidFill>
                <a:latin typeface="Meiryo UI"/>
              </a:defRPr>
            </a:pPr>
            <a:r>
              <a:t>▪  ③努力と結果の法則 ── 出来高（努力）と値動き（結果）の一致/不一致を分析</a:t>
            </a:r>
          </a:p>
          <a:p>
            <a:pPr>
              <a:spcAft>
                <a:spcPts val="1019"/>
              </a:spcAft>
              <a:defRPr sz="1700">
                <a:solidFill>
                  <a:srgbClr val="2C3E50"/>
                </a:solidFill>
                <a:latin typeface="Meiryo UI"/>
              </a:defRPr>
            </a:pPr>
            <a:r>
              <a:t>▪  努力と結果が一致 ── トレンド継続のサイン</a:t>
            </a:r>
          </a:p>
          <a:p>
            <a:pPr>
              <a:spcAft>
                <a:spcPts val="1019"/>
              </a:spcAft>
              <a:defRPr sz="1700">
                <a:solidFill>
                  <a:srgbClr val="2C3E50"/>
                </a:solidFill>
                <a:latin typeface="Meiryo UI"/>
              </a:defRPr>
            </a:pPr>
            <a:r>
              <a:t>▪  努力と結果が不一致 ── トレンド転換の可能性</a:t>
            </a:r>
          </a:p>
        </p:txBody>
      </p:sp>
      <p:sp>
        <p:nvSpPr>
          <p:cNvPr id="6" name="Rectangle 5"/>
          <p:cNvSpPr/>
          <p:nvPr/>
        </p:nvSpPr>
        <p:spPr>
          <a:xfrm>
            <a:off x="731520" y="4937760"/>
            <a:ext cx="54864" cy="10058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86384" y="4937760"/>
            <a:ext cx="10460736"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bIns="127000"/>
          <a:lstStyle/>
          <a:p>
            <a:pPr algn="ctr">
              <a:defRPr sz="1400">
                <a:solidFill>
                  <a:srgbClr val="2C3E50"/>
                </a:solidFill>
                <a:latin typeface="Meiryo UI"/>
              </a:defRPr>
            </a:pPr>
            <a:r>
              <a:t>POINT：第3法則「努力と結果」が最も実践的。大きな出来高なのに価格が動かない ＝ 反対勢力の存在を示唆。</a:t>
            </a:r>
          </a:p>
        </p:txBody>
      </p:sp>
      <p:sp>
        <p:nvSpPr>
          <p:cNvPr id="8" name="Rectangle 7"/>
          <p:cNvSpPr/>
          <p:nvPr/>
        </p:nvSpPr>
        <p:spPr>
          <a:xfrm>
            <a:off x="0" y="6537960"/>
            <a:ext cx="12191695" cy="3200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lIns="304800"/>
          <a:lstStyle/>
          <a:p>
            <a:pPr algn="ctr">
              <a:defRPr sz="900">
                <a:solidFill>
                  <a:srgbClr val="AEB6BF"/>
                </a:solidFill>
                <a:latin typeface="Meiryo UI"/>
              </a:defRPr>
            </a:pPr>
            <a:r>
              <a:t>  ワイコフ理論    |    URIKAI Trading Academy</a:t>
            </a:r>
          </a:p>
        </p:txBody>
      </p:sp>
      <p:sp>
        <p:nvSpPr>
          <p:cNvPr id="9" name="Rectangle 8"/>
          <p:cNvSpPr/>
          <p:nvPr/>
        </p:nvSpPr>
        <p:spPr>
          <a:xfrm>
            <a:off x="0" y="6510528"/>
            <a:ext cx="12191695" cy="27432"/>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7"/>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058400" cy="594360"/>
          </a:xfrm>
          <a:prstGeom prst="rect">
            <a:avLst/>
          </a:prstGeom>
          <a:noFill/>
        </p:spPr>
        <p:txBody>
          <a:bodyPr wrap="square">
            <a:spAutoFit/>
          </a:bodyPr>
          <a:lstStyle/>
          <a:p>
            <a:pPr algn="l">
              <a:defRPr sz="2600" b="1">
                <a:solidFill>
                  <a:srgbClr val="FFFFFF"/>
                </a:solidFill>
                <a:latin typeface="Meiryo UI"/>
              </a:defRPr>
            </a:pPr>
            <a:r>
              <a:t>コンポジットマン（Composite Man）</a:t>
            </a:r>
          </a:p>
        </p:txBody>
      </p:sp>
      <p:sp>
        <p:nvSpPr>
          <p:cNvPr id="5" name="TextBox 4"/>
          <p:cNvSpPr txBox="1"/>
          <p:nvPr/>
        </p:nvSpPr>
        <p:spPr>
          <a:xfrm>
            <a:off x="731520" y="1188720"/>
            <a:ext cx="10515600" cy="3474720"/>
          </a:xfrm>
          <a:prstGeom prst="rect">
            <a:avLst/>
          </a:prstGeom>
          <a:noFill/>
        </p:spPr>
        <p:txBody>
          <a:bodyPr wrap="square">
            <a:spAutoFit/>
          </a:bodyPr>
          <a:lstStyle/>
          <a:p>
            <a:pPr>
              <a:spcAft>
                <a:spcPts val="1019"/>
              </a:spcAft>
              <a:defRPr sz="1700">
                <a:solidFill>
                  <a:srgbClr val="2C3E50"/>
                </a:solidFill>
                <a:latin typeface="Meiryo UI"/>
              </a:defRPr>
            </a:pPr>
            <a:r>
              <a:t>▪  ワイコフが提唱した概念 ── 市場を動かす「一人の大口プレイヤー」として見る</a:t>
            </a:r>
          </a:p>
          <a:p>
            <a:pPr>
              <a:spcAft>
                <a:spcPts val="1019"/>
              </a:spcAft>
              <a:defRPr sz="1700">
                <a:solidFill>
                  <a:srgbClr val="2C3E50"/>
                </a:solidFill>
                <a:latin typeface="Meiryo UI"/>
              </a:defRPr>
            </a:pPr>
            <a:r>
              <a:t>▪  コンポジットマンの行動パターン：</a:t>
            </a:r>
          </a:p>
          <a:p>
            <a:pPr>
              <a:spcAft>
                <a:spcPts val="1019"/>
              </a:spcAft>
              <a:defRPr sz="1700">
                <a:solidFill>
                  <a:srgbClr val="2C3E50"/>
                </a:solidFill>
                <a:latin typeface="Meiryo UI"/>
              </a:defRPr>
            </a:pPr>
            <a:r>
              <a:t>▪  ①静かに買い集める（Accumulation / 蓄積）</a:t>
            </a:r>
          </a:p>
          <a:p>
            <a:pPr>
              <a:spcAft>
                <a:spcPts val="1019"/>
              </a:spcAft>
              <a:defRPr sz="1700">
                <a:solidFill>
                  <a:srgbClr val="2C3E50"/>
                </a:solidFill>
                <a:latin typeface="Meiryo UI"/>
              </a:defRPr>
            </a:pPr>
            <a:r>
              <a:t>▪  ②価格を押し上げる（Markup / マークアップ）</a:t>
            </a:r>
          </a:p>
          <a:p>
            <a:pPr>
              <a:spcAft>
                <a:spcPts val="1019"/>
              </a:spcAft>
              <a:defRPr sz="1700">
                <a:solidFill>
                  <a:srgbClr val="2C3E50"/>
                </a:solidFill>
                <a:latin typeface="Meiryo UI"/>
              </a:defRPr>
            </a:pPr>
            <a:r>
              <a:t>▪  ③静かに売り抜ける（Distribution / 分配）</a:t>
            </a:r>
          </a:p>
          <a:p>
            <a:pPr>
              <a:spcAft>
                <a:spcPts val="1019"/>
              </a:spcAft>
              <a:defRPr sz="1700">
                <a:solidFill>
                  <a:srgbClr val="2C3E50"/>
                </a:solidFill>
                <a:latin typeface="Meiryo UI"/>
              </a:defRPr>
            </a:pPr>
            <a:r>
              <a:t>▪  ④価格を押し下げる（Markdown / マークダウン）</a:t>
            </a:r>
          </a:p>
        </p:txBody>
      </p:sp>
      <p:sp>
        <p:nvSpPr>
          <p:cNvPr id="6" name="Rectangle 5"/>
          <p:cNvSpPr/>
          <p:nvPr/>
        </p:nvSpPr>
        <p:spPr>
          <a:xfrm>
            <a:off x="731520" y="4937760"/>
            <a:ext cx="54864" cy="10058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86384" y="4937760"/>
            <a:ext cx="10460736"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bIns="127000"/>
          <a:lstStyle/>
          <a:p>
            <a:pPr algn="ctr">
              <a:defRPr sz="1400">
                <a:solidFill>
                  <a:srgbClr val="2C3E50"/>
                </a:solidFill>
                <a:latin typeface="Meiryo UI"/>
              </a:defRPr>
            </a:pPr>
            <a:r>
              <a:t>POINT：「コンポジットマンは今何をしているか？」を常に問いかけることが、ワイコフ分析の基本姿勢。</a:t>
            </a:r>
          </a:p>
        </p:txBody>
      </p:sp>
      <p:sp>
        <p:nvSpPr>
          <p:cNvPr id="8" name="Rectangle 7"/>
          <p:cNvSpPr/>
          <p:nvPr/>
        </p:nvSpPr>
        <p:spPr>
          <a:xfrm>
            <a:off x="0" y="6537960"/>
            <a:ext cx="12191695" cy="3200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lIns="304800"/>
          <a:lstStyle/>
          <a:p>
            <a:pPr algn="ctr">
              <a:defRPr sz="900">
                <a:solidFill>
                  <a:srgbClr val="AEB6BF"/>
                </a:solidFill>
                <a:latin typeface="Meiryo UI"/>
              </a:defRPr>
            </a:pPr>
            <a:r>
              <a:t>  ワイコフ理論    |    URIKAI Trading Academy</a:t>
            </a:r>
          </a:p>
        </p:txBody>
      </p:sp>
      <p:sp>
        <p:nvSpPr>
          <p:cNvPr id="9" name="Rectangle 8"/>
          <p:cNvSpPr/>
          <p:nvPr/>
        </p:nvSpPr>
        <p:spPr>
          <a:xfrm>
            <a:off x="0" y="6510528"/>
            <a:ext cx="12191695" cy="27432"/>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7"/>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058400" cy="594360"/>
          </a:xfrm>
          <a:prstGeom prst="rect">
            <a:avLst/>
          </a:prstGeom>
          <a:noFill/>
        </p:spPr>
        <p:txBody>
          <a:bodyPr wrap="square">
            <a:spAutoFit/>
          </a:bodyPr>
          <a:lstStyle/>
          <a:p>
            <a:pPr algn="l">
              <a:defRPr sz="2600" b="1">
                <a:solidFill>
                  <a:srgbClr val="FFFFFF"/>
                </a:solidFill>
                <a:latin typeface="Meiryo UI"/>
              </a:defRPr>
            </a:pPr>
            <a:r>
              <a:t>アキュムレーション（蓄積）── 買い集めの局面</a:t>
            </a:r>
          </a:p>
        </p:txBody>
      </p:sp>
      <p:sp>
        <p:nvSpPr>
          <p:cNvPr id="5" name="TextBox 4"/>
          <p:cNvSpPr txBox="1"/>
          <p:nvPr/>
        </p:nvSpPr>
        <p:spPr>
          <a:xfrm>
            <a:off x="731520" y="1188720"/>
            <a:ext cx="10515600" cy="3474720"/>
          </a:xfrm>
          <a:prstGeom prst="rect">
            <a:avLst/>
          </a:prstGeom>
          <a:noFill/>
        </p:spPr>
        <p:txBody>
          <a:bodyPr wrap="square">
            <a:spAutoFit/>
          </a:bodyPr>
          <a:lstStyle/>
          <a:p>
            <a:pPr>
              <a:spcAft>
                <a:spcPts val="1019"/>
              </a:spcAft>
              <a:defRPr sz="1700">
                <a:solidFill>
                  <a:srgbClr val="2C3E50"/>
                </a:solidFill>
                <a:latin typeface="Meiryo UI"/>
              </a:defRPr>
            </a:pPr>
            <a:r>
              <a:t>▪  Phase A：下落トレンドの終了。PS（予備的サポート）、SC（セリングクライマックス）、AR（自動反発）、ST（二次テスト）</a:t>
            </a:r>
          </a:p>
          <a:p>
            <a:pPr>
              <a:spcAft>
                <a:spcPts val="1019"/>
              </a:spcAft>
              <a:defRPr sz="1700">
                <a:solidFill>
                  <a:srgbClr val="2C3E50"/>
                </a:solidFill>
                <a:latin typeface="Meiryo UI"/>
              </a:defRPr>
            </a:pPr>
            <a:r>
              <a:t>▪  Phase B：大口が静かに買い集めるレンジ相場。出来高が増えるが価格は横ばい</a:t>
            </a:r>
          </a:p>
          <a:p>
            <a:pPr>
              <a:spcAft>
                <a:spcPts val="1019"/>
              </a:spcAft>
              <a:defRPr sz="1700">
                <a:solidFill>
                  <a:srgbClr val="2C3E50"/>
                </a:solidFill>
                <a:latin typeface="Meiryo UI"/>
              </a:defRPr>
            </a:pPr>
            <a:r>
              <a:t>▪  Phase C：Spring（スプリング）── レンジ下限をわずかに割ってから急反転（ダマシ）</a:t>
            </a:r>
          </a:p>
          <a:p>
            <a:pPr>
              <a:spcAft>
                <a:spcPts val="1019"/>
              </a:spcAft>
              <a:defRPr sz="1700">
                <a:solidFill>
                  <a:srgbClr val="2C3E50"/>
                </a:solidFill>
                <a:latin typeface="Meiryo UI"/>
              </a:defRPr>
            </a:pPr>
            <a:r>
              <a:t>▪  Phase D：SOS（Sign of Strength）── 出来高を伴った強い上昇。LPS（最後の押し目）</a:t>
            </a:r>
          </a:p>
          <a:p>
            <a:pPr>
              <a:spcAft>
                <a:spcPts val="1019"/>
              </a:spcAft>
              <a:defRPr sz="1700">
                <a:solidFill>
                  <a:srgbClr val="2C3E50"/>
                </a:solidFill>
                <a:latin typeface="Meiryo UI"/>
              </a:defRPr>
            </a:pPr>
            <a:r>
              <a:t>▪  Phase E：マークアップ開始 ── 本格的な上昇トレンドの開始</a:t>
            </a:r>
          </a:p>
        </p:txBody>
      </p:sp>
      <p:sp>
        <p:nvSpPr>
          <p:cNvPr id="6" name="Rectangle 5"/>
          <p:cNvSpPr/>
          <p:nvPr/>
        </p:nvSpPr>
        <p:spPr>
          <a:xfrm>
            <a:off x="731520" y="4937760"/>
            <a:ext cx="54864" cy="10058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86384" y="4937760"/>
            <a:ext cx="10460736" cy="10058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bIns="127000"/>
          <a:lstStyle/>
          <a:p>
            <a:pPr algn="ctr">
              <a:defRPr sz="1400">
                <a:solidFill>
                  <a:srgbClr val="2C3E50"/>
                </a:solidFill>
                <a:latin typeface="Meiryo UI"/>
              </a:defRPr>
            </a:pPr>
            <a:r>
              <a:t>POINT：Springは個人トレーダーの損切りを誘発する動き。大口はこの損切り注文を流動性として利用して買いポジションを構築する。</a:t>
            </a:r>
          </a:p>
        </p:txBody>
      </p:sp>
      <p:sp>
        <p:nvSpPr>
          <p:cNvPr id="8" name="Rectangle 7"/>
          <p:cNvSpPr/>
          <p:nvPr/>
        </p:nvSpPr>
        <p:spPr>
          <a:xfrm>
            <a:off x="0" y="6537960"/>
            <a:ext cx="12191695" cy="3200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lIns="304800"/>
          <a:lstStyle/>
          <a:p>
            <a:pPr algn="ctr">
              <a:defRPr sz="900">
                <a:solidFill>
                  <a:srgbClr val="AEB6BF"/>
                </a:solidFill>
                <a:latin typeface="Meiryo UI"/>
              </a:defRPr>
            </a:pPr>
            <a:r>
              <a:t>  ワイコフ理論    |    URIKAI Trading Academy</a:t>
            </a:r>
          </a:p>
        </p:txBody>
      </p:sp>
      <p:sp>
        <p:nvSpPr>
          <p:cNvPr id="9" name="Rectangle 8"/>
          <p:cNvSpPr/>
          <p:nvPr/>
        </p:nvSpPr>
        <p:spPr>
          <a:xfrm>
            <a:off x="0" y="6510528"/>
            <a:ext cx="12191695" cy="27432"/>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7"/>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058400" cy="594360"/>
          </a:xfrm>
          <a:prstGeom prst="rect">
            <a:avLst/>
          </a:prstGeom>
          <a:noFill/>
        </p:spPr>
        <p:txBody>
          <a:bodyPr wrap="square">
            <a:spAutoFit/>
          </a:bodyPr>
          <a:lstStyle/>
          <a:p>
            <a:pPr algn="l">
              <a:defRPr sz="2600" b="1">
                <a:solidFill>
                  <a:srgbClr val="FFFFFF"/>
                </a:solidFill>
                <a:latin typeface="Meiryo UI"/>
              </a:defRPr>
            </a:pPr>
            <a:r>
              <a:t>ディストリビューション（分配）── 売り抜けの局面</a:t>
            </a:r>
          </a:p>
        </p:txBody>
      </p:sp>
      <p:sp>
        <p:nvSpPr>
          <p:cNvPr id="5" name="TextBox 4"/>
          <p:cNvSpPr txBox="1"/>
          <p:nvPr/>
        </p:nvSpPr>
        <p:spPr>
          <a:xfrm>
            <a:off x="731520" y="1188720"/>
            <a:ext cx="10515600" cy="4754880"/>
          </a:xfrm>
          <a:prstGeom prst="rect">
            <a:avLst/>
          </a:prstGeom>
          <a:noFill/>
        </p:spPr>
        <p:txBody>
          <a:bodyPr wrap="square">
            <a:spAutoFit/>
          </a:bodyPr>
          <a:lstStyle/>
          <a:p>
            <a:pPr>
              <a:spcAft>
                <a:spcPts val="1019"/>
              </a:spcAft>
              <a:defRPr sz="1700">
                <a:solidFill>
                  <a:srgbClr val="2C3E50"/>
                </a:solidFill>
                <a:latin typeface="Meiryo UI"/>
              </a:defRPr>
            </a:pPr>
            <a:r>
              <a:t>▪  Phase A：上昇トレンドの終了。PSY（予備的供給）、BC（バイイングクライマックス）、AR（自動反落）、ST（二次テスト）</a:t>
            </a:r>
          </a:p>
          <a:p>
            <a:pPr>
              <a:spcAft>
                <a:spcPts val="1019"/>
              </a:spcAft>
              <a:defRPr sz="1700">
                <a:solidFill>
                  <a:srgbClr val="2C3E50"/>
                </a:solidFill>
                <a:latin typeface="Meiryo UI"/>
              </a:defRPr>
            </a:pPr>
            <a:r>
              <a:t>▪  Phase B：大口が静かに売り抜けるレンジ相場</a:t>
            </a:r>
          </a:p>
          <a:p>
            <a:pPr>
              <a:spcAft>
                <a:spcPts val="1019"/>
              </a:spcAft>
              <a:defRPr sz="1700">
                <a:solidFill>
                  <a:srgbClr val="2C3E50"/>
                </a:solidFill>
                <a:latin typeface="Meiryo UI"/>
              </a:defRPr>
            </a:pPr>
            <a:r>
              <a:t>▪  Phase C：UTAD（Upthrust After Distribution）── レンジ上限をわずかに超えてから急反落</a:t>
            </a:r>
          </a:p>
          <a:p>
            <a:pPr>
              <a:spcAft>
                <a:spcPts val="1019"/>
              </a:spcAft>
              <a:defRPr sz="1700">
                <a:solidFill>
                  <a:srgbClr val="2C3E50"/>
                </a:solidFill>
                <a:latin typeface="Meiryo UI"/>
              </a:defRPr>
            </a:pPr>
            <a:r>
              <a:t>▪  Phase D：SOW（Sign of Weakness）── 出来高を伴った強い下落。LPSY（最後の戻り高値）</a:t>
            </a:r>
          </a:p>
          <a:p>
            <a:pPr>
              <a:spcAft>
                <a:spcPts val="1019"/>
              </a:spcAft>
              <a:defRPr sz="1700">
                <a:solidFill>
                  <a:srgbClr val="2C3E50"/>
                </a:solidFill>
                <a:latin typeface="Meiryo UI"/>
              </a:defRPr>
            </a:pPr>
            <a:r>
              <a:t>▪  Phase E：マークダウン開始 ── 本格的な下落トレンドの開始</a:t>
            </a:r>
          </a:p>
        </p:txBody>
      </p:sp>
      <p:sp>
        <p:nvSpPr>
          <p:cNvPr id="6" name="Rectangle 5"/>
          <p:cNvSpPr/>
          <p:nvPr/>
        </p:nvSpPr>
        <p:spPr>
          <a:xfrm>
            <a:off x="0" y="6537960"/>
            <a:ext cx="12191695" cy="3200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lIns="304800"/>
          <a:lstStyle/>
          <a:p>
            <a:pPr algn="ctr">
              <a:defRPr sz="900">
                <a:solidFill>
                  <a:srgbClr val="AEB6BF"/>
                </a:solidFill>
                <a:latin typeface="Meiryo UI"/>
              </a:defRPr>
            </a:pPr>
            <a:r>
              <a:t>  ワイコフ理論    |    URIKAI Trading Academy</a:t>
            </a:r>
          </a:p>
        </p:txBody>
      </p:sp>
      <p:sp>
        <p:nvSpPr>
          <p:cNvPr id="7" name="Rectangle 6"/>
          <p:cNvSpPr/>
          <p:nvPr/>
        </p:nvSpPr>
        <p:spPr>
          <a:xfrm>
            <a:off x="0" y="6510528"/>
            <a:ext cx="12191695" cy="27432"/>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7"/>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058400" cy="594360"/>
          </a:xfrm>
          <a:prstGeom prst="rect">
            <a:avLst/>
          </a:prstGeom>
          <a:noFill/>
        </p:spPr>
        <p:txBody>
          <a:bodyPr wrap="square">
            <a:spAutoFit/>
          </a:bodyPr>
          <a:lstStyle/>
          <a:p>
            <a:pPr algn="l">
              <a:defRPr sz="2600" b="1">
                <a:solidFill>
                  <a:srgbClr val="FFFFFF"/>
                </a:solidFill>
                <a:latin typeface="Meiryo UI"/>
              </a:defRPr>
            </a:pPr>
            <a:r>
              <a:t>実践での活用と注意点</a:t>
            </a:r>
          </a:p>
        </p:txBody>
      </p:sp>
      <p:sp>
        <p:nvSpPr>
          <p:cNvPr id="5" name="TextBox 4"/>
          <p:cNvSpPr txBox="1"/>
          <p:nvPr/>
        </p:nvSpPr>
        <p:spPr>
          <a:xfrm>
            <a:off x="731520" y="1188720"/>
            <a:ext cx="10515600" cy="4754880"/>
          </a:xfrm>
          <a:prstGeom prst="rect">
            <a:avLst/>
          </a:prstGeom>
          <a:noFill/>
        </p:spPr>
        <p:txBody>
          <a:bodyPr wrap="square">
            <a:spAutoFit/>
          </a:bodyPr>
          <a:lstStyle/>
          <a:p>
            <a:pPr>
              <a:spcAft>
                <a:spcPts val="1019"/>
              </a:spcAft>
              <a:defRPr sz="1700">
                <a:solidFill>
                  <a:srgbClr val="2C3E50"/>
                </a:solidFill>
                <a:latin typeface="Meiryo UI"/>
              </a:defRPr>
            </a:pPr>
            <a:r>
              <a:t>▪  出来高分析が鍵 ── レンジ内での出来高増加は蓄積/分配の証拠</a:t>
            </a:r>
          </a:p>
          <a:p>
            <a:pPr>
              <a:spcAft>
                <a:spcPts val="1019"/>
              </a:spcAft>
              <a:defRPr sz="1700">
                <a:solidFill>
                  <a:srgbClr val="2C3E50"/>
                </a:solidFill>
                <a:latin typeface="Meiryo UI"/>
              </a:defRPr>
            </a:pPr>
            <a:r>
              <a:t>▪  Spring/UTADはエントリーポイントとして非常に有効</a:t>
            </a:r>
          </a:p>
          <a:p>
            <a:pPr>
              <a:spcAft>
                <a:spcPts val="1019"/>
              </a:spcAft>
              <a:defRPr sz="1700">
                <a:solidFill>
                  <a:srgbClr val="2C3E50"/>
                </a:solidFill>
                <a:latin typeface="Meiryo UI"/>
              </a:defRPr>
            </a:pPr>
            <a:r>
              <a:t>▪  他の分析手法（S/R、トレンドライン）との併用で精度向上</a:t>
            </a:r>
          </a:p>
          <a:p>
            <a:pPr>
              <a:spcAft>
                <a:spcPts val="1019"/>
              </a:spcAft>
              <a:defRPr sz="1700">
                <a:solidFill>
                  <a:srgbClr val="2C3E50"/>
                </a:solidFill>
                <a:latin typeface="Meiryo UI"/>
              </a:defRPr>
            </a:pPr>
            <a:r>
              <a:t>▪  リアルタイムでは蓄積と分配の区別が難しい場合がある</a:t>
            </a:r>
          </a:p>
          <a:p>
            <a:pPr>
              <a:spcAft>
                <a:spcPts val="1019"/>
              </a:spcAft>
              <a:defRPr sz="1700">
                <a:solidFill>
                  <a:srgbClr val="2C3E50"/>
                </a:solidFill>
                <a:latin typeface="Meiryo UI"/>
              </a:defRPr>
            </a:pPr>
            <a:r>
              <a:t>▪  FX市場は出来高データが正確でないため、ティックボリューム等で代用</a:t>
            </a:r>
          </a:p>
          <a:p>
            <a:pPr>
              <a:spcAft>
                <a:spcPts val="1019"/>
              </a:spcAft>
              <a:defRPr sz="1700">
                <a:solidFill>
                  <a:srgbClr val="2C3E50"/>
                </a:solidFill>
                <a:latin typeface="Meiryo UI"/>
              </a:defRPr>
            </a:pPr>
            <a:r>
              <a:t>▪  習得には多くのチャート分析経験が必要</a:t>
            </a:r>
          </a:p>
        </p:txBody>
      </p:sp>
      <p:sp>
        <p:nvSpPr>
          <p:cNvPr id="6" name="Rectangle 5"/>
          <p:cNvSpPr/>
          <p:nvPr/>
        </p:nvSpPr>
        <p:spPr>
          <a:xfrm>
            <a:off x="0" y="6537960"/>
            <a:ext cx="12191695" cy="3200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lIns="304800"/>
          <a:lstStyle/>
          <a:p>
            <a:pPr algn="ctr">
              <a:defRPr sz="900">
                <a:solidFill>
                  <a:srgbClr val="AEB6BF"/>
                </a:solidFill>
                <a:latin typeface="Meiryo UI"/>
              </a:defRPr>
            </a:pPr>
            <a:r>
              <a:t>  ワイコフ理論    |    URIKAI Trading Academy</a:t>
            </a:r>
          </a:p>
        </p:txBody>
      </p:sp>
      <p:sp>
        <p:nvSpPr>
          <p:cNvPr id="7" name="Rectangle 6"/>
          <p:cNvSpPr/>
          <p:nvPr/>
        </p:nvSpPr>
        <p:spPr>
          <a:xfrm>
            <a:off x="0" y="6510528"/>
            <a:ext cx="12191695" cy="27432"/>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7"/>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36576"/>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058400" cy="594360"/>
          </a:xfrm>
          <a:prstGeom prst="rect">
            <a:avLst/>
          </a:prstGeom>
          <a:noFill/>
        </p:spPr>
        <p:txBody>
          <a:bodyPr wrap="square">
            <a:spAutoFit/>
          </a:bodyPr>
          <a:lstStyle/>
          <a:p>
            <a:pPr algn="l">
              <a:defRPr sz="2600" b="1">
                <a:solidFill>
                  <a:srgbClr val="FFFFFF"/>
                </a:solidFill>
                <a:latin typeface="Meiryo UI"/>
              </a:defRPr>
            </a:pPr>
            <a:r>
              <a:t>まとめ</a:t>
            </a:r>
          </a:p>
        </p:txBody>
      </p:sp>
      <p:sp>
        <p:nvSpPr>
          <p:cNvPr id="5" name="Rounded Rectangle 4"/>
          <p:cNvSpPr/>
          <p:nvPr/>
        </p:nvSpPr>
        <p:spPr>
          <a:xfrm>
            <a:off x="457200" y="1188720"/>
            <a:ext cx="2560320" cy="411480"/>
          </a:xfrm>
          <a:prstGeom prst="roundRect">
            <a:avLst/>
          </a:prstGeom>
          <a:solidFill>
            <a:srgbClr val="0A2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eiryo UI"/>
              </a:defRPr>
            </a:pPr>
            <a:r>
              <a:t>3つの法則</a:t>
            </a:r>
          </a:p>
        </p:txBody>
      </p:sp>
      <p:sp>
        <p:nvSpPr>
          <p:cNvPr id="6" name="TextBox 5"/>
          <p:cNvSpPr txBox="1"/>
          <p:nvPr/>
        </p:nvSpPr>
        <p:spPr>
          <a:xfrm>
            <a:off x="3200400" y="1216152"/>
            <a:ext cx="8503920" cy="411480"/>
          </a:xfrm>
          <a:prstGeom prst="rect">
            <a:avLst/>
          </a:prstGeom>
          <a:noFill/>
        </p:spPr>
        <p:txBody>
          <a:bodyPr wrap="square">
            <a:spAutoFit/>
          </a:bodyPr>
          <a:lstStyle/>
          <a:p>
            <a:pPr algn="l">
              <a:defRPr sz="1400" b="0">
                <a:solidFill>
                  <a:srgbClr val="2C3E50"/>
                </a:solidFill>
                <a:latin typeface="Meiryo UI"/>
              </a:defRPr>
            </a:pPr>
            <a:r>
              <a:t>需給、因果、努力と結果</a:t>
            </a:r>
          </a:p>
        </p:txBody>
      </p:sp>
      <p:sp>
        <p:nvSpPr>
          <p:cNvPr id="7" name="Rounded Rectangle 6"/>
          <p:cNvSpPr/>
          <p:nvPr/>
        </p:nvSpPr>
        <p:spPr>
          <a:xfrm>
            <a:off x="457200" y="1737360"/>
            <a:ext cx="2560320" cy="411480"/>
          </a:xfrm>
          <a:prstGeom prst="roundRect">
            <a:avLst/>
          </a:prstGeom>
          <a:solidFill>
            <a:srgbClr val="0A2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eiryo UI"/>
              </a:defRPr>
            </a:pPr>
            <a:r>
              <a:t>コンポジットマン</a:t>
            </a:r>
          </a:p>
        </p:txBody>
      </p:sp>
      <p:sp>
        <p:nvSpPr>
          <p:cNvPr id="8" name="TextBox 7"/>
          <p:cNvSpPr txBox="1"/>
          <p:nvPr/>
        </p:nvSpPr>
        <p:spPr>
          <a:xfrm>
            <a:off x="3200400" y="1764792"/>
            <a:ext cx="8503920" cy="411480"/>
          </a:xfrm>
          <a:prstGeom prst="rect">
            <a:avLst/>
          </a:prstGeom>
          <a:noFill/>
        </p:spPr>
        <p:txBody>
          <a:bodyPr wrap="square">
            <a:spAutoFit/>
          </a:bodyPr>
          <a:lstStyle/>
          <a:p>
            <a:pPr algn="l">
              <a:defRPr sz="1400" b="0">
                <a:solidFill>
                  <a:srgbClr val="2C3E50"/>
                </a:solidFill>
                <a:latin typeface="Meiryo UI"/>
              </a:defRPr>
            </a:pPr>
            <a:r>
              <a:t>大口の行動パターンを読む思考フレーム</a:t>
            </a:r>
          </a:p>
        </p:txBody>
      </p:sp>
      <p:sp>
        <p:nvSpPr>
          <p:cNvPr id="9" name="Rounded Rectangle 8"/>
          <p:cNvSpPr/>
          <p:nvPr/>
        </p:nvSpPr>
        <p:spPr>
          <a:xfrm>
            <a:off x="457200" y="2286000"/>
            <a:ext cx="2560320" cy="411480"/>
          </a:xfrm>
          <a:prstGeom prst="roundRect">
            <a:avLst/>
          </a:prstGeom>
          <a:solidFill>
            <a:srgbClr val="0A2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eiryo UI"/>
              </a:defRPr>
            </a:pPr>
            <a:r>
              <a:t>蓄積（Accumulation）</a:t>
            </a:r>
          </a:p>
        </p:txBody>
      </p:sp>
      <p:sp>
        <p:nvSpPr>
          <p:cNvPr id="10" name="TextBox 9"/>
          <p:cNvSpPr txBox="1"/>
          <p:nvPr/>
        </p:nvSpPr>
        <p:spPr>
          <a:xfrm>
            <a:off x="3200400" y="2313432"/>
            <a:ext cx="8503920" cy="411480"/>
          </a:xfrm>
          <a:prstGeom prst="rect">
            <a:avLst/>
          </a:prstGeom>
          <a:noFill/>
        </p:spPr>
        <p:txBody>
          <a:bodyPr wrap="square">
            <a:spAutoFit/>
          </a:bodyPr>
          <a:lstStyle/>
          <a:p>
            <a:pPr algn="l">
              <a:defRPr sz="1400" b="0">
                <a:solidFill>
                  <a:srgbClr val="2C3E50"/>
                </a:solidFill>
                <a:latin typeface="Meiryo UI"/>
              </a:defRPr>
            </a:pPr>
            <a:r>
              <a:t>下落後の買い集め → Spring → 上昇開始</a:t>
            </a:r>
          </a:p>
        </p:txBody>
      </p:sp>
      <p:sp>
        <p:nvSpPr>
          <p:cNvPr id="11" name="Rounded Rectangle 10"/>
          <p:cNvSpPr/>
          <p:nvPr/>
        </p:nvSpPr>
        <p:spPr>
          <a:xfrm>
            <a:off x="457200" y="2834640"/>
            <a:ext cx="2560320" cy="411480"/>
          </a:xfrm>
          <a:prstGeom prst="roundRect">
            <a:avLst/>
          </a:prstGeom>
          <a:solidFill>
            <a:srgbClr val="0A2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eiryo UI"/>
              </a:defRPr>
            </a:pPr>
            <a:r>
              <a:t>分配（Distribution）</a:t>
            </a:r>
          </a:p>
        </p:txBody>
      </p:sp>
      <p:sp>
        <p:nvSpPr>
          <p:cNvPr id="12" name="TextBox 11"/>
          <p:cNvSpPr txBox="1"/>
          <p:nvPr/>
        </p:nvSpPr>
        <p:spPr>
          <a:xfrm>
            <a:off x="3200400" y="2862072"/>
            <a:ext cx="8503920" cy="411480"/>
          </a:xfrm>
          <a:prstGeom prst="rect">
            <a:avLst/>
          </a:prstGeom>
          <a:noFill/>
        </p:spPr>
        <p:txBody>
          <a:bodyPr wrap="square">
            <a:spAutoFit/>
          </a:bodyPr>
          <a:lstStyle/>
          <a:p>
            <a:pPr algn="l">
              <a:defRPr sz="1400" b="0">
                <a:solidFill>
                  <a:srgbClr val="2C3E50"/>
                </a:solidFill>
                <a:latin typeface="Meiryo UI"/>
              </a:defRPr>
            </a:pPr>
            <a:r>
              <a:t>上昇後の売り抜け → UTAD → 下落開始</a:t>
            </a:r>
          </a:p>
        </p:txBody>
      </p:sp>
      <p:sp>
        <p:nvSpPr>
          <p:cNvPr id="13" name="Rounded Rectangle 12"/>
          <p:cNvSpPr/>
          <p:nvPr/>
        </p:nvSpPr>
        <p:spPr>
          <a:xfrm>
            <a:off x="457200" y="3383280"/>
            <a:ext cx="2560320" cy="411480"/>
          </a:xfrm>
          <a:prstGeom prst="roundRect">
            <a:avLst/>
          </a:prstGeom>
          <a:solidFill>
            <a:srgbClr val="0A2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Meiryo UI"/>
              </a:defRPr>
            </a:pPr>
            <a:r>
              <a:t>実践</a:t>
            </a:r>
          </a:p>
        </p:txBody>
      </p:sp>
      <p:sp>
        <p:nvSpPr>
          <p:cNvPr id="14" name="TextBox 13"/>
          <p:cNvSpPr txBox="1"/>
          <p:nvPr/>
        </p:nvSpPr>
        <p:spPr>
          <a:xfrm>
            <a:off x="3200400" y="3410712"/>
            <a:ext cx="8503920" cy="411480"/>
          </a:xfrm>
          <a:prstGeom prst="rect">
            <a:avLst/>
          </a:prstGeom>
          <a:noFill/>
        </p:spPr>
        <p:txBody>
          <a:bodyPr wrap="square">
            <a:spAutoFit/>
          </a:bodyPr>
          <a:lstStyle/>
          <a:p>
            <a:pPr algn="l">
              <a:defRPr sz="1400" b="0">
                <a:solidFill>
                  <a:srgbClr val="2C3E50"/>
                </a:solidFill>
                <a:latin typeface="Meiryo UI"/>
              </a:defRPr>
            </a:pPr>
            <a:r>
              <a:t>出来高分析が鍵、他手法と組み合わせて使用</a:t>
            </a:r>
          </a:p>
        </p:txBody>
      </p:sp>
      <p:sp>
        <p:nvSpPr>
          <p:cNvPr id="15" name="Rectangle 14"/>
          <p:cNvSpPr/>
          <p:nvPr/>
        </p:nvSpPr>
        <p:spPr>
          <a:xfrm>
            <a:off x="0" y="6537960"/>
            <a:ext cx="12191695" cy="3200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lIns="304800"/>
          <a:lstStyle/>
          <a:p>
            <a:pPr algn="ctr">
              <a:defRPr sz="900">
                <a:solidFill>
                  <a:srgbClr val="AEB6BF"/>
                </a:solidFill>
                <a:latin typeface="Meiryo UI"/>
              </a:defRPr>
            </a:pPr>
            <a:r>
              <a:t>  ワイコフ理論    |    URIKAI Trading Academy</a:t>
            </a:r>
          </a:p>
        </p:txBody>
      </p:sp>
      <p:sp>
        <p:nvSpPr>
          <p:cNvPr id="16" name="Rectangle 15"/>
          <p:cNvSpPr/>
          <p:nvPr/>
        </p:nvSpPr>
        <p:spPr>
          <a:xfrm>
            <a:off x="0" y="6510528"/>
            <a:ext cx="12191695" cy="27432"/>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2560320"/>
            <a:ext cx="10058400" cy="731520"/>
          </a:xfrm>
          <a:prstGeom prst="rect">
            <a:avLst/>
          </a:prstGeom>
          <a:noFill/>
        </p:spPr>
        <p:txBody>
          <a:bodyPr wrap="square">
            <a:spAutoFit/>
          </a:bodyPr>
          <a:lstStyle/>
          <a:p>
            <a:pPr algn="ctr">
              <a:defRPr sz="3600" b="1">
                <a:solidFill>
                  <a:srgbClr val="D4A537"/>
                </a:solidFill>
                <a:latin typeface="Meiryo UI"/>
              </a:defRPr>
            </a:pPr>
            <a:r>
              <a:t>End of Section</a:t>
            </a:r>
          </a:p>
        </p:txBody>
      </p:sp>
      <p:sp>
        <p:nvSpPr>
          <p:cNvPr id="3" name="TextBox 2"/>
          <p:cNvSpPr txBox="1"/>
          <p:nvPr/>
        </p:nvSpPr>
        <p:spPr>
          <a:xfrm>
            <a:off x="914400" y="3474720"/>
            <a:ext cx="10058400" cy="731520"/>
          </a:xfrm>
          <a:prstGeom prst="rect">
            <a:avLst/>
          </a:prstGeom>
          <a:noFill/>
        </p:spPr>
        <p:txBody>
          <a:bodyPr wrap="square">
            <a:spAutoFit/>
          </a:bodyPr>
          <a:lstStyle/>
          <a:p>
            <a:pPr algn="ctr">
              <a:defRPr sz="2000" b="0">
                <a:solidFill>
                  <a:srgbClr val="AEB6BF"/>
                </a:solidFill>
                <a:latin typeface="Meiryo UI"/>
              </a:defRPr>
            </a:pPr>
            <a:r>
              <a:t>Next → オーダーフロー分析</a:t>
            </a:r>
          </a:p>
        </p:txBody>
      </p:sp>
      <p:sp>
        <p:nvSpPr>
          <p:cNvPr id="4" name="Rectangle 3"/>
          <p:cNvSpPr/>
          <p:nvPr/>
        </p:nvSpPr>
        <p:spPr>
          <a:xfrm>
            <a:off x="5029200" y="4572000"/>
            <a:ext cx="2103120" cy="27432"/>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937760"/>
            <a:ext cx="10058400" cy="457200"/>
          </a:xfrm>
          <a:prstGeom prst="rect">
            <a:avLst/>
          </a:prstGeom>
          <a:noFill/>
        </p:spPr>
        <p:txBody>
          <a:bodyPr wrap="square">
            <a:spAutoFit/>
          </a:bodyPr>
          <a:lstStyle/>
          <a:p>
            <a:pPr algn="ctr">
              <a:defRPr sz="1400" b="0">
                <a:solidFill>
                  <a:srgbClr val="AEB6BF"/>
                </a:solidFill>
                <a:latin typeface="Meiryo UI"/>
              </a:defRPr>
            </a:pPr>
            <a:r>
              <a:t>URIKAI Trading Academy</a:t>
            </a:r>
          </a:p>
        </p:txBody>
      </p:sp>
      <p:sp>
        <p:nvSpPr>
          <p:cNvPr id="6" name="Rectangle 5"/>
          <p:cNvSpPr/>
          <p:nvPr/>
        </p:nvSpPr>
        <p:spPr>
          <a:xfrm>
            <a:off x="0" y="6400800"/>
            <a:ext cx="12191695" cy="4572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